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7.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70" r:id="rId3"/>
    <p:sldId id="259" r:id="rId4"/>
    <p:sldId id="271" r:id="rId5"/>
    <p:sldId id="260" r:id="rId6"/>
    <p:sldId id="261" r:id="rId7"/>
    <p:sldId id="262" r:id="rId8"/>
    <p:sldId id="267" r:id="rId9"/>
    <p:sldId id="268" r:id="rId10"/>
    <p:sldId id="269"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E3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50" d="100"/>
          <a:sy n="150" d="100"/>
        </p:scale>
        <p:origin x="1374" y="1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bodyp\Downloads\SampleSuperstor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bodyp\Downloads\SampleSuperstore.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bodyp\Downloads\SampleSuperstore.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bodyp\Downloads\SampleSuperstore.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bodyp\Downloads\SampleSuperstore.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Sheet1!$B$7</c:f>
              <c:strCache>
                <c:ptCount val="1"/>
                <c:pt idx="0">
                  <c:v>Total_Sales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Sheet1!$A$8:$A$17</c:f>
              <c:strCache>
                <c:ptCount val="10"/>
                <c:pt idx="0">
                  <c:v>Appliances</c:v>
                </c:pt>
                <c:pt idx="1">
                  <c:v>Bookcases</c:v>
                </c:pt>
                <c:pt idx="2">
                  <c:v>Copiers</c:v>
                </c:pt>
                <c:pt idx="3">
                  <c:v>Accessories</c:v>
                </c:pt>
                <c:pt idx="4">
                  <c:v>Machines</c:v>
                </c:pt>
                <c:pt idx="5">
                  <c:v>Binders</c:v>
                </c:pt>
                <c:pt idx="6">
                  <c:v>Tables</c:v>
                </c:pt>
                <c:pt idx="7">
                  <c:v>Storage</c:v>
                </c:pt>
                <c:pt idx="8">
                  <c:v>Chairs</c:v>
                </c:pt>
                <c:pt idx="9">
                  <c:v>Phones</c:v>
                </c:pt>
              </c:strCache>
            </c:strRef>
          </c:cat>
          <c:val>
            <c:numRef>
              <c:f>Sheet1!$B$8:$B$17</c:f>
              <c:numCache>
                <c:formatCode>_(* #,##0_);_(* \(#,##0\);_(* "-"??_);_(@_)</c:formatCode>
                <c:ptCount val="10"/>
                <c:pt idx="0">
                  <c:v>107532.16099999999</c:v>
                </c:pt>
                <c:pt idx="1">
                  <c:v>114879.9963</c:v>
                </c:pt>
                <c:pt idx="2">
                  <c:v>149528.03</c:v>
                </c:pt>
                <c:pt idx="3">
                  <c:v>167380.318</c:v>
                </c:pt>
                <c:pt idx="4">
                  <c:v>189238.63099999999</c:v>
                </c:pt>
                <c:pt idx="5">
                  <c:v>203412.73300000001</c:v>
                </c:pt>
                <c:pt idx="6">
                  <c:v>206965.53200000001</c:v>
                </c:pt>
                <c:pt idx="7">
                  <c:v>223843.60800000001</c:v>
                </c:pt>
                <c:pt idx="8">
                  <c:v>328449.10300000099</c:v>
                </c:pt>
                <c:pt idx="9">
                  <c:v>330007.054</c:v>
                </c:pt>
              </c:numCache>
            </c:numRef>
          </c:val>
          <c:extLst>
            <c:ext xmlns:c16="http://schemas.microsoft.com/office/drawing/2014/chart" uri="{C3380CC4-5D6E-409C-BE32-E72D297353CC}">
              <c16:uniqueId val="{00000000-16F3-4694-8E60-3D6C8FF5A27C}"/>
            </c:ext>
          </c:extLst>
        </c:ser>
        <c:dLbls>
          <c:dLblPos val="outEnd"/>
          <c:showLegendKey val="0"/>
          <c:showVal val="1"/>
          <c:showCatName val="0"/>
          <c:showSerName val="0"/>
          <c:showPercent val="0"/>
          <c:showBubbleSize val="0"/>
        </c:dLbls>
        <c:gapWidth val="182"/>
        <c:axId val="1221518111"/>
        <c:axId val="1221519551"/>
      </c:barChart>
      <c:catAx>
        <c:axId val="1221518111"/>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bg1"/>
                </a:solidFill>
                <a:latin typeface="+mn-lt"/>
                <a:ea typeface="+mn-ea"/>
                <a:cs typeface="+mn-cs"/>
              </a:defRPr>
            </a:pPr>
            <a:endParaRPr lang="en-US"/>
          </a:p>
        </c:txPr>
        <c:crossAx val="1221519551"/>
        <c:crosses val="autoZero"/>
        <c:auto val="1"/>
        <c:lblAlgn val="ctr"/>
        <c:lblOffset val="100"/>
        <c:noMultiLvlLbl val="0"/>
      </c:catAx>
      <c:valAx>
        <c:axId val="1221519551"/>
        <c:scaling>
          <c:orientation val="minMax"/>
        </c:scaling>
        <c:delete val="1"/>
        <c:axPos val="b"/>
        <c:majorGridlines>
          <c:spPr>
            <a:ln w="9525" cap="flat" cmpd="sng" algn="ctr">
              <a:noFill/>
              <a:round/>
            </a:ln>
            <a:effectLst/>
          </c:spPr>
        </c:majorGridlines>
        <c:numFmt formatCode="_(* #,##0_);_(* \(#,##0\);_(* &quot;-&quot;??_);_(@_)" sourceLinked="1"/>
        <c:majorTickMark val="out"/>
        <c:minorTickMark val="none"/>
        <c:tickLblPos val="nextTo"/>
        <c:crossAx val="122151811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Sheet1!$A$21:$A$30</c:f>
              <c:strCache>
                <c:ptCount val="10"/>
                <c:pt idx="0">
                  <c:v>Copiers</c:v>
                </c:pt>
                <c:pt idx="1">
                  <c:v>Phones</c:v>
                </c:pt>
                <c:pt idx="2">
                  <c:v>Accessories</c:v>
                </c:pt>
                <c:pt idx="3">
                  <c:v>Paper</c:v>
                </c:pt>
                <c:pt idx="4">
                  <c:v>Binders</c:v>
                </c:pt>
                <c:pt idx="5">
                  <c:v>Chairs</c:v>
                </c:pt>
                <c:pt idx="6">
                  <c:v>Storage</c:v>
                </c:pt>
                <c:pt idx="7">
                  <c:v>Appliances</c:v>
                </c:pt>
                <c:pt idx="8">
                  <c:v>Furnishings</c:v>
                </c:pt>
                <c:pt idx="9">
                  <c:v>Envelopes</c:v>
                </c:pt>
              </c:strCache>
            </c:strRef>
          </c:cat>
          <c:val>
            <c:numRef>
              <c:f>Sheet1!$B$21:$B$30</c:f>
              <c:numCache>
                <c:formatCode>_(* #,##0_);_(* \(#,##0\);_(* "-"??_);_(@_)</c:formatCode>
                <c:ptCount val="10"/>
                <c:pt idx="0">
                  <c:v>55617.8249</c:v>
                </c:pt>
                <c:pt idx="1">
                  <c:v>44515.730600000003</c:v>
                </c:pt>
                <c:pt idx="2">
                  <c:v>41936.635699999897</c:v>
                </c:pt>
                <c:pt idx="3">
                  <c:v>34053.569300000003</c:v>
                </c:pt>
                <c:pt idx="4">
                  <c:v>30221.763299999999</c:v>
                </c:pt>
                <c:pt idx="5">
                  <c:v>26590.166300000001</c:v>
                </c:pt>
                <c:pt idx="6">
                  <c:v>21278.826400000002</c:v>
                </c:pt>
                <c:pt idx="7">
                  <c:v>18138.005399999998</c:v>
                </c:pt>
                <c:pt idx="8">
                  <c:v>13059.143599999999</c:v>
                </c:pt>
                <c:pt idx="9">
                  <c:v>6964.1767</c:v>
                </c:pt>
              </c:numCache>
            </c:numRef>
          </c:val>
          <c:extLst>
            <c:ext xmlns:c16="http://schemas.microsoft.com/office/drawing/2014/chart" uri="{C3380CC4-5D6E-409C-BE32-E72D297353CC}">
              <c16:uniqueId val="{00000000-57BA-4CA4-9240-7F7FE7B217C5}"/>
            </c:ext>
          </c:extLst>
        </c:ser>
        <c:dLbls>
          <c:dLblPos val="outEnd"/>
          <c:showLegendKey val="0"/>
          <c:showVal val="1"/>
          <c:showCatName val="0"/>
          <c:showSerName val="0"/>
          <c:showPercent val="0"/>
          <c:showBubbleSize val="0"/>
        </c:dLbls>
        <c:gapWidth val="219"/>
        <c:overlap val="-27"/>
        <c:axId val="1975956143"/>
        <c:axId val="1975948463"/>
      </c:barChart>
      <c:catAx>
        <c:axId val="19759561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bg1"/>
                </a:solidFill>
                <a:latin typeface="+mn-lt"/>
                <a:ea typeface="+mn-ea"/>
                <a:cs typeface="+mn-cs"/>
              </a:defRPr>
            </a:pPr>
            <a:endParaRPr lang="en-US"/>
          </a:p>
        </c:txPr>
        <c:crossAx val="1975948463"/>
        <c:crosses val="autoZero"/>
        <c:auto val="1"/>
        <c:lblAlgn val="ctr"/>
        <c:lblOffset val="100"/>
        <c:noMultiLvlLbl val="0"/>
      </c:catAx>
      <c:valAx>
        <c:axId val="1975948463"/>
        <c:scaling>
          <c:orientation val="minMax"/>
        </c:scaling>
        <c:delete val="1"/>
        <c:axPos val="l"/>
        <c:numFmt formatCode="_(* #,##0_);_(* \(#,##0\);_(* &quot;-&quot;??_);_(@_)" sourceLinked="1"/>
        <c:majorTickMark val="none"/>
        <c:minorTickMark val="none"/>
        <c:tickLblPos val="nextTo"/>
        <c:crossAx val="197595614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dPt>
            <c:idx val="0"/>
            <c:bubble3D val="0"/>
            <c:spPr>
              <a:solidFill>
                <a:schemeClr val="accent1">
                  <a:shade val="65000"/>
                </a:schemeClr>
              </a:solidFill>
              <a:ln w="19050">
                <a:solidFill>
                  <a:schemeClr val="lt1"/>
                </a:solidFill>
              </a:ln>
              <a:effectLst/>
            </c:spPr>
            <c:extLst>
              <c:ext xmlns:c16="http://schemas.microsoft.com/office/drawing/2014/chart" uri="{C3380CC4-5D6E-409C-BE32-E72D297353CC}">
                <c16:uniqueId val="{00000001-3B2B-4182-B915-7AEE4D9D1827}"/>
              </c:ext>
            </c:extLst>
          </c:dPt>
          <c:dPt>
            <c:idx val="1"/>
            <c:bubble3D val="0"/>
            <c:spPr>
              <a:solidFill>
                <a:schemeClr val="accent1"/>
              </a:solidFill>
              <a:ln w="19050">
                <a:solidFill>
                  <a:schemeClr val="lt1"/>
                </a:solidFill>
              </a:ln>
              <a:effectLst/>
            </c:spPr>
            <c:extLst>
              <c:ext xmlns:c16="http://schemas.microsoft.com/office/drawing/2014/chart" uri="{C3380CC4-5D6E-409C-BE32-E72D297353CC}">
                <c16:uniqueId val="{00000003-3B2B-4182-B915-7AEE4D9D1827}"/>
              </c:ext>
            </c:extLst>
          </c:dPt>
          <c:dPt>
            <c:idx val="2"/>
            <c:bubble3D val="0"/>
            <c:spPr>
              <a:solidFill>
                <a:schemeClr val="accent1">
                  <a:tint val="65000"/>
                </a:schemeClr>
              </a:solidFill>
              <a:ln w="19050">
                <a:solidFill>
                  <a:schemeClr val="lt1"/>
                </a:solidFill>
              </a:ln>
              <a:effectLst/>
            </c:spPr>
            <c:extLst>
              <c:ext xmlns:c16="http://schemas.microsoft.com/office/drawing/2014/chart" uri="{C3380CC4-5D6E-409C-BE32-E72D297353CC}">
                <c16:uniqueId val="{00000005-3B2B-4182-B915-7AEE4D9D1827}"/>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Sheet1!$A$34:$A$36</c:f>
              <c:strCache>
                <c:ptCount val="3"/>
                <c:pt idx="0">
                  <c:v>Tables</c:v>
                </c:pt>
                <c:pt idx="1">
                  <c:v>Bookcases</c:v>
                </c:pt>
                <c:pt idx="2">
                  <c:v>Supplies</c:v>
                </c:pt>
              </c:strCache>
            </c:strRef>
          </c:cat>
          <c:val>
            <c:numRef>
              <c:f>Sheet1!$B$34:$B$36</c:f>
              <c:numCache>
                <c:formatCode>0</c:formatCode>
                <c:ptCount val="3"/>
                <c:pt idx="0">
                  <c:v>-17725.481100000001</c:v>
                </c:pt>
                <c:pt idx="1">
                  <c:v>-3472.556</c:v>
                </c:pt>
                <c:pt idx="2">
                  <c:v>-1189.0995</c:v>
                </c:pt>
              </c:numCache>
            </c:numRef>
          </c:val>
          <c:extLst>
            <c:ext xmlns:c16="http://schemas.microsoft.com/office/drawing/2014/chart" uri="{C3380CC4-5D6E-409C-BE32-E72D297353CC}">
              <c16:uniqueId val="{00000006-3B2B-4182-B915-7AEE4D9D1827}"/>
            </c:ext>
          </c:extLst>
        </c:ser>
        <c:dLbls>
          <c:dLblPos val="outEnd"/>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dPt>
            <c:idx val="0"/>
            <c:bubble3D val="0"/>
            <c:spPr>
              <a:solidFill>
                <a:schemeClr val="accent1">
                  <a:shade val="65000"/>
                </a:schemeClr>
              </a:solidFill>
              <a:ln w="19050">
                <a:solidFill>
                  <a:schemeClr val="lt1"/>
                </a:solidFill>
              </a:ln>
              <a:effectLst/>
            </c:spPr>
            <c:extLst>
              <c:ext xmlns:c16="http://schemas.microsoft.com/office/drawing/2014/chart" uri="{C3380CC4-5D6E-409C-BE32-E72D297353CC}">
                <c16:uniqueId val="{00000001-84B2-4C3F-A8BB-D00F609C26D2}"/>
              </c:ext>
            </c:extLst>
          </c:dPt>
          <c:dPt>
            <c:idx val="1"/>
            <c:bubble3D val="0"/>
            <c:spPr>
              <a:solidFill>
                <a:schemeClr val="accent1"/>
              </a:solidFill>
              <a:ln w="19050">
                <a:solidFill>
                  <a:schemeClr val="lt1"/>
                </a:solidFill>
              </a:ln>
              <a:effectLst/>
            </c:spPr>
            <c:extLst>
              <c:ext xmlns:c16="http://schemas.microsoft.com/office/drawing/2014/chart" uri="{C3380CC4-5D6E-409C-BE32-E72D297353CC}">
                <c16:uniqueId val="{00000003-84B2-4C3F-A8BB-D00F609C26D2}"/>
              </c:ext>
            </c:extLst>
          </c:dPt>
          <c:dPt>
            <c:idx val="2"/>
            <c:bubble3D val="0"/>
            <c:spPr>
              <a:solidFill>
                <a:schemeClr val="accent1">
                  <a:tint val="65000"/>
                </a:schemeClr>
              </a:solidFill>
              <a:ln w="19050">
                <a:solidFill>
                  <a:schemeClr val="lt1"/>
                </a:solidFill>
              </a:ln>
              <a:effectLst/>
            </c:spPr>
            <c:extLst>
              <c:ext xmlns:c16="http://schemas.microsoft.com/office/drawing/2014/chart" uri="{C3380CC4-5D6E-409C-BE32-E72D297353CC}">
                <c16:uniqueId val="{00000005-84B2-4C3F-A8BB-D00F609C26D2}"/>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Sheet1!$A$47:$A$49</c:f>
              <c:strCache>
                <c:ptCount val="3"/>
                <c:pt idx="0">
                  <c:v>Office Supplies</c:v>
                </c:pt>
                <c:pt idx="1">
                  <c:v>Furniture</c:v>
                </c:pt>
                <c:pt idx="2">
                  <c:v>Technology</c:v>
                </c:pt>
              </c:strCache>
            </c:strRef>
          </c:cat>
          <c:val>
            <c:numRef>
              <c:f>Sheet1!$B$47:$B$49</c:f>
              <c:numCache>
                <c:formatCode>_(* #,##0_);_(* \(#,##0\);_(* "-"??_);_(@_)</c:formatCode>
                <c:ptCount val="3"/>
                <c:pt idx="0">
                  <c:v>719047.03200000303</c:v>
                </c:pt>
                <c:pt idx="1">
                  <c:v>741999.7953</c:v>
                </c:pt>
                <c:pt idx="2">
                  <c:v>836154.03299999703</c:v>
                </c:pt>
              </c:numCache>
            </c:numRef>
          </c:val>
          <c:extLst>
            <c:ext xmlns:c16="http://schemas.microsoft.com/office/drawing/2014/chart" uri="{C3380CC4-5D6E-409C-BE32-E72D297353CC}">
              <c16:uniqueId val="{00000006-84B2-4C3F-A8BB-D00F609C26D2}"/>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Sheet1!$F$20</c:f>
              <c:strCache>
                <c:ptCount val="1"/>
                <c:pt idx="0">
                  <c:v> Total_Sales </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Sheet1!$E$21:$E$24</c:f>
              <c:strCache>
                <c:ptCount val="4"/>
                <c:pt idx="0">
                  <c:v> East </c:v>
                </c:pt>
                <c:pt idx="1">
                  <c:v> South </c:v>
                </c:pt>
                <c:pt idx="2">
                  <c:v> West </c:v>
                </c:pt>
                <c:pt idx="3">
                  <c:v> Central </c:v>
                </c:pt>
              </c:strCache>
            </c:strRef>
          </c:cat>
          <c:val>
            <c:numRef>
              <c:f>Sheet1!$F$21:$F$24</c:f>
              <c:numCache>
                <c:formatCode>_(* #,##0_);_(* \(#,##0\);_(* "-"??_);_(@_)</c:formatCode>
                <c:ptCount val="4"/>
                <c:pt idx="0">
                  <c:v>678781.23999999801</c:v>
                </c:pt>
                <c:pt idx="1">
                  <c:v>391721.90500000003</c:v>
                </c:pt>
                <c:pt idx="2">
                  <c:v>725457.82450000104</c:v>
                </c:pt>
                <c:pt idx="3">
                  <c:v>501239.89080000098</c:v>
                </c:pt>
              </c:numCache>
            </c:numRef>
          </c:val>
          <c:extLst>
            <c:ext xmlns:c16="http://schemas.microsoft.com/office/drawing/2014/chart" uri="{C3380CC4-5D6E-409C-BE32-E72D297353CC}">
              <c16:uniqueId val="{00000000-2A2D-4D10-8258-BE2DF68780EF}"/>
            </c:ext>
          </c:extLst>
        </c:ser>
        <c:dLbls>
          <c:showLegendKey val="0"/>
          <c:showVal val="1"/>
          <c:showCatName val="0"/>
          <c:showSerName val="0"/>
          <c:showPercent val="0"/>
          <c:showBubbleSize val="0"/>
        </c:dLbls>
        <c:gapWidth val="219"/>
        <c:axId val="1343830559"/>
        <c:axId val="1343831039"/>
      </c:barChart>
      <c:lineChart>
        <c:grouping val="standard"/>
        <c:varyColors val="0"/>
        <c:ser>
          <c:idx val="1"/>
          <c:order val="1"/>
          <c:tx>
            <c:strRef>
              <c:f>Sheet1!$G$20</c:f>
              <c:strCache>
                <c:ptCount val="1"/>
                <c:pt idx="0">
                  <c:v> Total_Profit </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Sheet1!$E$21:$E$24</c:f>
              <c:strCache>
                <c:ptCount val="4"/>
                <c:pt idx="0">
                  <c:v> East </c:v>
                </c:pt>
                <c:pt idx="1">
                  <c:v> South </c:v>
                </c:pt>
                <c:pt idx="2">
                  <c:v> West </c:v>
                </c:pt>
                <c:pt idx="3">
                  <c:v> Central </c:v>
                </c:pt>
              </c:strCache>
            </c:strRef>
          </c:cat>
          <c:val>
            <c:numRef>
              <c:f>Sheet1!$G$21:$G$24</c:f>
              <c:numCache>
                <c:formatCode>_(* #,##0_);_(* \(#,##0\);_(* "-"??_);_(@_)</c:formatCode>
                <c:ptCount val="4"/>
                <c:pt idx="0">
                  <c:v>91522.780000000304</c:v>
                </c:pt>
                <c:pt idx="1">
                  <c:v>46749.430300000102</c:v>
                </c:pt>
                <c:pt idx="2">
                  <c:v>108418.4489</c:v>
                </c:pt>
                <c:pt idx="3">
                  <c:v>39706.362500000003</c:v>
                </c:pt>
              </c:numCache>
            </c:numRef>
          </c:val>
          <c:smooth val="0"/>
          <c:extLst>
            <c:ext xmlns:c16="http://schemas.microsoft.com/office/drawing/2014/chart" uri="{C3380CC4-5D6E-409C-BE32-E72D297353CC}">
              <c16:uniqueId val="{00000001-2A2D-4D10-8258-BE2DF68780EF}"/>
            </c:ext>
          </c:extLst>
        </c:ser>
        <c:dLbls>
          <c:showLegendKey val="0"/>
          <c:showVal val="1"/>
          <c:showCatName val="0"/>
          <c:showSerName val="0"/>
          <c:showPercent val="0"/>
          <c:showBubbleSize val="0"/>
        </c:dLbls>
        <c:marker val="1"/>
        <c:smooth val="0"/>
        <c:axId val="1256639087"/>
        <c:axId val="1256640527"/>
      </c:lineChart>
      <c:catAx>
        <c:axId val="13438305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bg1"/>
                </a:solidFill>
                <a:latin typeface="+mn-lt"/>
                <a:ea typeface="+mn-ea"/>
                <a:cs typeface="+mn-cs"/>
              </a:defRPr>
            </a:pPr>
            <a:endParaRPr lang="en-US"/>
          </a:p>
        </c:txPr>
        <c:crossAx val="1343831039"/>
        <c:crosses val="autoZero"/>
        <c:auto val="1"/>
        <c:lblAlgn val="ctr"/>
        <c:lblOffset val="100"/>
        <c:noMultiLvlLbl val="0"/>
      </c:catAx>
      <c:valAx>
        <c:axId val="1343831039"/>
        <c:scaling>
          <c:orientation val="minMax"/>
        </c:scaling>
        <c:delete val="1"/>
        <c:axPos val="l"/>
        <c:numFmt formatCode="_(* #,##0_);_(* \(#,##0\);_(* &quot;-&quot;??_);_(@_)" sourceLinked="1"/>
        <c:majorTickMark val="none"/>
        <c:minorTickMark val="none"/>
        <c:tickLblPos val="nextTo"/>
        <c:crossAx val="1343830559"/>
        <c:crosses val="autoZero"/>
        <c:crossBetween val="between"/>
      </c:valAx>
      <c:valAx>
        <c:axId val="1256640527"/>
        <c:scaling>
          <c:orientation val="minMax"/>
        </c:scaling>
        <c:delete val="1"/>
        <c:axPos val="r"/>
        <c:numFmt formatCode="_(* #,##0_);_(* \(#,##0\);_(* &quot;-&quot;??_);_(@_)" sourceLinked="1"/>
        <c:majorTickMark val="out"/>
        <c:minorTickMark val="none"/>
        <c:tickLblPos val="nextTo"/>
        <c:crossAx val="1256639087"/>
        <c:crosses val="max"/>
        <c:crossBetween val="between"/>
      </c:valAx>
      <c:catAx>
        <c:axId val="1256639087"/>
        <c:scaling>
          <c:orientation val="minMax"/>
        </c:scaling>
        <c:delete val="1"/>
        <c:axPos val="b"/>
        <c:numFmt formatCode="General" sourceLinked="1"/>
        <c:majorTickMark val="out"/>
        <c:minorTickMark val="none"/>
        <c:tickLblPos val="nextTo"/>
        <c:crossAx val="1256640527"/>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4">
  <a:schemeClr val="accent1"/>
</cs:colorStyle>
</file>

<file path=ppt/charts/colors4.xml><?xml version="1.0" encoding="utf-8"?>
<cs:colorStyle xmlns:cs="http://schemas.microsoft.com/office/drawing/2012/chartStyle" xmlns:a="http://schemas.openxmlformats.org/drawingml/2006/main" meth="withinLinear" id="14">
  <a:schemeClr val="accent1"/>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9344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D1CAA-5D8C-AAD4-8843-D34683074A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7B5939-D3FD-EA16-DFF2-2689804C9AA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3E07665-A1C7-0B13-DA53-51719B1ACB6C}"/>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FD36992E-67F3-C3F8-C158-469B788EAF4F}"/>
              </a:ext>
            </a:extLst>
          </p:cNvPr>
          <p:cNvSpPr>
            <a:spLocks noGrp="1"/>
          </p:cNvSpPr>
          <p:nvPr>
            <p:ph type="sldNum" sz="quarter" idx="5"/>
          </p:nvPr>
        </p:nvSpPr>
        <p:spPr/>
      </p:sp>
    </p:spTree>
    <p:extLst>
      <p:ext uri="{BB962C8B-B14F-4D97-AF65-F5344CB8AC3E}">
        <p14:creationId xmlns:p14="http://schemas.microsoft.com/office/powerpoint/2010/main" val="23747416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p:cNvGrpSpPr/>
        <p:nvPr/>
      </p:nvGrpSpPr>
      <p:grpSpPr>
        <a:xfrm>
          <a:off x="0" y="0"/>
          <a:ext cx="0" cy="0"/>
          <a:chOff x="0" y="0"/>
          <a:chExt cx="0" cy="0"/>
        </a:xfrm>
      </p:grpSpPr>
      <p:sp>
        <p:nvSpPr>
          <p:cNvPr id="2" name="TextBox 1"/>
          <p:cNvSpPr txBox="1"/>
          <p:nvPr/>
        </p:nvSpPr>
        <p:spPr>
          <a:xfrm>
            <a:off x="0" y="274320"/>
            <a:ext cx="9144000" cy="523220"/>
          </a:xfrm>
          <a:prstGeom prst="rect">
            <a:avLst/>
          </a:prstGeom>
          <a:noFill/>
        </p:spPr>
        <p:txBody>
          <a:bodyPr wrap="square">
            <a:spAutoFit/>
          </a:bodyPr>
          <a:lstStyle/>
          <a:p>
            <a:pPr algn="ctr">
              <a:defRPr sz="2800" b="1">
                <a:solidFill>
                  <a:srgbClr val="FFFFFF"/>
                </a:solidFill>
              </a:defRPr>
            </a:pPr>
            <a:r>
              <a:rPr lang="en-US" sz="2800" b="1" dirty="0"/>
              <a:t>Sales</a:t>
            </a:r>
            <a:r>
              <a:rPr dirty="0"/>
              <a:t> Analytics – Executive Overview</a:t>
            </a:r>
          </a:p>
        </p:txBody>
      </p:sp>
      <p:sp>
        <p:nvSpPr>
          <p:cNvPr id="3" name="TextBox 2"/>
          <p:cNvSpPr txBox="1"/>
          <p:nvPr/>
        </p:nvSpPr>
        <p:spPr>
          <a:xfrm>
            <a:off x="1783035" y="4090808"/>
            <a:ext cx="5577929" cy="1323439"/>
          </a:xfrm>
          <a:prstGeom prst="rect">
            <a:avLst/>
          </a:prstGeom>
          <a:noFill/>
        </p:spPr>
        <p:txBody>
          <a:bodyPr wrap="square">
            <a:spAutoFit/>
          </a:bodyPr>
          <a:lstStyle/>
          <a:p>
            <a:pPr algn="ctr">
              <a:defRPr sz="2000">
                <a:solidFill>
                  <a:srgbClr val="D2D2D2"/>
                </a:solidFill>
              </a:defRPr>
            </a:pPr>
            <a:r>
              <a:rPr lang="ar-EG" sz="2000" b="1" dirty="0"/>
              <a:t>الهدف من العرض</a:t>
            </a:r>
            <a:br>
              <a:rPr lang="ar-EG" sz="2000" b="1" dirty="0"/>
            </a:br>
            <a:r>
              <a:rPr lang="ar-EG" sz="2000" b="1" dirty="0"/>
              <a:t>يهدف هذا التحليل إلى تقديم نظرة شاملة على أداء المبيعات والربحية وحجم الطلب، لدعم اتخاذ قرارات مبنية على البيانات بهدف زيادة الإيرادات وتحسين كفاءة العمليات.</a:t>
            </a:r>
            <a:endParaRPr b="1" dirty="0"/>
          </a:p>
        </p:txBody>
      </p:sp>
      <p:sp>
        <p:nvSpPr>
          <p:cNvPr id="6" name="TextBox 5">
            <a:extLst>
              <a:ext uri="{FF2B5EF4-FFF2-40B4-BE49-F238E27FC236}">
                <a16:creationId xmlns:a16="http://schemas.microsoft.com/office/drawing/2014/main" id="{A8CD76AA-CE62-C361-68C1-EDB2E9DDBEF6}"/>
              </a:ext>
            </a:extLst>
          </p:cNvPr>
          <p:cNvSpPr txBox="1"/>
          <p:nvPr/>
        </p:nvSpPr>
        <p:spPr>
          <a:xfrm>
            <a:off x="1783035" y="1567109"/>
            <a:ext cx="5577929" cy="1938992"/>
          </a:xfrm>
          <a:prstGeom prst="rect">
            <a:avLst/>
          </a:prstGeom>
          <a:noFill/>
        </p:spPr>
        <p:txBody>
          <a:bodyPr wrap="square">
            <a:spAutoFit/>
          </a:bodyPr>
          <a:lstStyle/>
          <a:p>
            <a:pPr algn="ctr">
              <a:defRPr sz="2000">
                <a:solidFill>
                  <a:srgbClr val="D2D2D2"/>
                </a:solidFill>
              </a:defRPr>
            </a:pPr>
            <a:r>
              <a:rPr lang="en-US" sz="2000" b="1" dirty="0"/>
              <a:t>Purpose of This Analysis</a:t>
            </a:r>
            <a:br>
              <a:rPr lang="en-US" sz="2000" b="1" dirty="0"/>
            </a:br>
            <a:r>
              <a:rPr lang="en-US" sz="2000" b="1" dirty="0"/>
              <a:t>This analysis aims to provide insights into sales performance, profitability, and customer demand. It supports data-driven decision-making to improve revenue, optimize operations, and enhance overall business performance.</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p:cNvGrpSpPr/>
        <p:nvPr/>
      </p:nvGrpSpPr>
      <p:grpSpPr>
        <a:xfrm>
          <a:off x="0" y="0"/>
          <a:ext cx="0" cy="0"/>
          <a:chOff x="0" y="0"/>
          <a:chExt cx="0" cy="0"/>
        </a:xfrm>
      </p:grpSpPr>
      <p:sp>
        <p:nvSpPr>
          <p:cNvPr id="2" name="TextBox 1"/>
          <p:cNvSpPr txBox="1"/>
          <p:nvPr/>
        </p:nvSpPr>
        <p:spPr>
          <a:xfrm>
            <a:off x="0" y="274320"/>
            <a:ext cx="9144000" cy="52322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2800" b="1">
                <a:solidFill>
                  <a:srgbClr val="FFFFFF"/>
                </a:solidFill>
              </a:defRPr>
            </a:pPr>
            <a:r>
              <a:rPr kumimoji="0" sz="2800" b="1" i="0" u="none" strike="noStrike" kern="1200" cap="none" spc="0" normalizeH="0" baseline="0" noProof="0" dirty="0">
                <a:ln>
                  <a:noFill/>
                </a:ln>
                <a:solidFill>
                  <a:srgbClr val="FFFFFF"/>
                </a:solidFill>
                <a:effectLst/>
                <a:uLnTx/>
                <a:uFillTx/>
                <a:latin typeface="Calibri"/>
                <a:ea typeface="+mn-ea"/>
                <a:cs typeface="+mn-cs"/>
              </a:rPr>
              <a:t>Executive KPI Snapshot</a:t>
            </a:r>
          </a:p>
        </p:txBody>
      </p:sp>
      <p:sp>
        <p:nvSpPr>
          <p:cNvPr id="3" name="TextBox 2">
            <a:extLst>
              <a:ext uri="{FF2B5EF4-FFF2-40B4-BE49-F238E27FC236}">
                <a16:creationId xmlns:a16="http://schemas.microsoft.com/office/drawing/2014/main" id="{24E26482-1E02-F1D0-1D0B-156A22EC474E}"/>
              </a:ext>
            </a:extLst>
          </p:cNvPr>
          <p:cNvSpPr txBox="1"/>
          <p:nvPr/>
        </p:nvSpPr>
        <p:spPr>
          <a:xfrm>
            <a:off x="1149969" y="3378535"/>
            <a:ext cx="6844061" cy="1631216"/>
          </a:xfrm>
          <a:prstGeom prst="rect">
            <a:avLst/>
          </a:prstGeom>
          <a:noFill/>
        </p:spPr>
        <p:txBody>
          <a:bodyPr wrap="square">
            <a:spAutoFit/>
          </a:bodyPr>
          <a:lstStyle/>
          <a:p>
            <a:pPr algn="ctr">
              <a:defRPr sz="2000">
                <a:solidFill>
                  <a:srgbClr val="D2D2D2"/>
                </a:solidFill>
              </a:defRPr>
            </a:pPr>
            <a:r>
              <a:rPr lang="en-US" sz="2000" b="1" dirty="0"/>
              <a:t>Executive KPI Summary</a:t>
            </a:r>
            <a:br>
              <a:rPr lang="en-US" sz="2000" b="1" dirty="0"/>
            </a:br>
            <a:r>
              <a:rPr lang="en-US" sz="2000" b="1" dirty="0"/>
              <a:t>The company shows strong performance with over 2.2M in sales and 286K in profit. High order volume reflects steady demand, while low average profit highlights an opportunity to improve pricing and cost efficiency.</a:t>
            </a:r>
            <a:endParaRPr b="1" dirty="0"/>
          </a:p>
        </p:txBody>
      </p:sp>
      <p:sp>
        <p:nvSpPr>
          <p:cNvPr id="4" name="TextBox 3">
            <a:extLst>
              <a:ext uri="{FF2B5EF4-FFF2-40B4-BE49-F238E27FC236}">
                <a16:creationId xmlns:a16="http://schemas.microsoft.com/office/drawing/2014/main" id="{812BEF40-6C6C-301E-65E4-543A2E5A35B8}"/>
              </a:ext>
            </a:extLst>
          </p:cNvPr>
          <p:cNvSpPr txBox="1"/>
          <p:nvPr/>
        </p:nvSpPr>
        <p:spPr>
          <a:xfrm>
            <a:off x="1149969" y="5177484"/>
            <a:ext cx="6844061" cy="1323439"/>
          </a:xfrm>
          <a:prstGeom prst="rect">
            <a:avLst/>
          </a:prstGeom>
          <a:noFill/>
        </p:spPr>
        <p:txBody>
          <a:bodyPr wrap="square">
            <a:spAutoFit/>
          </a:bodyPr>
          <a:lstStyle/>
          <a:p>
            <a:pPr algn="ctr">
              <a:defRPr sz="2000">
                <a:solidFill>
                  <a:srgbClr val="D2D2D2"/>
                </a:solidFill>
              </a:defRPr>
            </a:pPr>
            <a:r>
              <a:rPr lang="ar-EG" sz="2000" b="1" dirty="0"/>
              <a:t>الملخص التنفيذي للأداء</a:t>
            </a:r>
            <a:br>
              <a:rPr lang="ar-EG" sz="2000" b="1" dirty="0"/>
            </a:br>
            <a:r>
              <a:rPr lang="ar-EG" sz="2000" b="1" dirty="0"/>
              <a:t>تُظهر الشركة أداءً قويًا بإجمالي مبيعات يتجاوز 2.2 مليون وأرباح 286 ألف. يعكس حجم الطلبات المرتفع استقرار الطلب، بينما يشير انخفاض متوسط الربح إلى فرصة لتحسين التسعير وتقليل التكاليف.</a:t>
            </a:r>
            <a:endParaRPr b="1" dirty="0"/>
          </a:p>
        </p:txBody>
      </p:sp>
      <p:grpSp>
        <p:nvGrpSpPr>
          <p:cNvPr id="32" name="Group 31">
            <a:extLst>
              <a:ext uri="{FF2B5EF4-FFF2-40B4-BE49-F238E27FC236}">
                <a16:creationId xmlns:a16="http://schemas.microsoft.com/office/drawing/2014/main" id="{424AF23E-CA81-4B74-7AF9-DA84C08A1BCA}"/>
              </a:ext>
            </a:extLst>
          </p:cNvPr>
          <p:cNvGrpSpPr/>
          <p:nvPr/>
        </p:nvGrpSpPr>
        <p:grpSpPr>
          <a:xfrm>
            <a:off x="322138" y="1135171"/>
            <a:ext cx="2290662" cy="885232"/>
            <a:chOff x="0" y="0"/>
            <a:chExt cx="2290662" cy="885232"/>
          </a:xfrm>
        </p:grpSpPr>
        <p:sp>
          <p:nvSpPr>
            <p:cNvPr id="33" name="Rectangle: Rounded Corners 32">
              <a:extLst>
                <a:ext uri="{FF2B5EF4-FFF2-40B4-BE49-F238E27FC236}">
                  <a16:creationId xmlns:a16="http://schemas.microsoft.com/office/drawing/2014/main" id="{58B619ED-1EE6-3FDF-890B-4067EF8B810D}"/>
                </a:ext>
              </a:extLst>
            </p:cNvPr>
            <p:cNvSpPr/>
            <p:nvPr/>
          </p:nvSpPr>
          <p:spPr>
            <a:xfrm>
              <a:off x="0" y="0"/>
              <a:ext cx="2290662" cy="885232"/>
            </a:xfrm>
            <a:prstGeom prst="roundRect">
              <a:avLst>
                <a:gd name="adj" fmla="val 25958"/>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2000" b="1">
                <a:solidFill>
                  <a:schemeClr val="tx2"/>
                </a:solidFill>
              </a:endParaRPr>
            </a:p>
          </p:txBody>
        </p:sp>
        <p:sp>
          <p:nvSpPr>
            <p:cNvPr id="34" name="TextBox 13">
              <a:extLst>
                <a:ext uri="{FF2B5EF4-FFF2-40B4-BE49-F238E27FC236}">
                  <a16:creationId xmlns:a16="http://schemas.microsoft.com/office/drawing/2014/main" id="{2369EABB-E13F-2FD5-21E6-FA89C3DC2507}"/>
                </a:ext>
              </a:extLst>
            </p:cNvPr>
            <p:cNvSpPr txBox="1"/>
            <p:nvPr/>
          </p:nvSpPr>
          <p:spPr>
            <a:xfrm>
              <a:off x="687483" y="169898"/>
              <a:ext cx="1420786" cy="20331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800" b="1">
                  <a:solidFill>
                    <a:schemeClr val="bg1"/>
                  </a:solidFill>
                </a:rPr>
                <a:t>Total</a:t>
              </a:r>
              <a:r>
                <a:rPr lang="en-US" sz="1800" b="1" baseline="0">
                  <a:solidFill>
                    <a:schemeClr val="bg1"/>
                  </a:solidFill>
                </a:rPr>
                <a:t> Sales</a:t>
              </a:r>
              <a:endParaRPr lang="en-US" sz="1800" b="1">
                <a:solidFill>
                  <a:schemeClr val="bg1"/>
                </a:solidFill>
              </a:endParaRPr>
            </a:p>
          </p:txBody>
        </p:sp>
        <p:sp>
          <p:nvSpPr>
            <p:cNvPr id="35" name="TextBox 14">
              <a:extLst>
                <a:ext uri="{FF2B5EF4-FFF2-40B4-BE49-F238E27FC236}">
                  <a16:creationId xmlns:a16="http://schemas.microsoft.com/office/drawing/2014/main" id="{CE99AF80-3584-9497-B229-875FEA27C161}"/>
                </a:ext>
              </a:extLst>
            </p:cNvPr>
            <p:cNvSpPr txBox="1"/>
            <p:nvPr/>
          </p:nvSpPr>
          <p:spPr>
            <a:xfrm>
              <a:off x="648124" y="466066"/>
              <a:ext cx="1449809" cy="20331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800" b="1" dirty="0">
                  <a:solidFill>
                    <a:schemeClr val="bg1"/>
                  </a:solidFill>
                  <a:latin typeface="Aptos Narrow"/>
                </a:rPr>
                <a:t>2,297,201</a:t>
              </a:r>
              <a:endParaRPr lang="en-US" sz="1800" b="1" i="0" u="none" strike="noStrike" dirty="0">
                <a:solidFill>
                  <a:schemeClr val="bg1"/>
                </a:solidFill>
                <a:latin typeface="Aptos Narrow"/>
                <a:ea typeface="+mn-ea"/>
                <a:cs typeface="+mn-cs"/>
              </a:endParaRPr>
            </a:p>
          </p:txBody>
        </p:sp>
        <p:pic>
          <p:nvPicPr>
            <p:cNvPr id="36" name="Graphic 15" descr="Credit card with solid fill">
              <a:extLst>
                <a:ext uri="{FF2B5EF4-FFF2-40B4-BE49-F238E27FC236}">
                  <a16:creationId xmlns:a16="http://schemas.microsoft.com/office/drawing/2014/main" id="{0A1F62F2-8BB3-3F4F-07A9-63B08832FF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572" y="29205"/>
              <a:ext cx="808044" cy="802005"/>
            </a:xfrm>
            <a:prstGeom prst="rect">
              <a:avLst/>
            </a:prstGeom>
          </p:spPr>
        </p:pic>
      </p:grpSp>
      <p:grpSp>
        <p:nvGrpSpPr>
          <p:cNvPr id="41" name="Group 40">
            <a:extLst>
              <a:ext uri="{FF2B5EF4-FFF2-40B4-BE49-F238E27FC236}">
                <a16:creationId xmlns:a16="http://schemas.microsoft.com/office/drawing/2014/main" id="{BE671041-E1B4-8F22-79B0-585E5B15690E}"/>
              </a:ext>
            </a:extLst>
          </p:cNvPr>
          <p:cNvGrpSpPr/>
          <p:nvPr/>
        </p:nvGrpSpPr>
        <p:grpSpPr>
          <a:xfrm>
            <a:off x="3379044" y="1135171"/>
            <a:ext cx="2385912" cy="885232"/>
            <a:chOff x="0" y="0"/>
            <a:chExt cx="2385912" cy="885232"/>
          </a:xfrm>
        </p:grpSpPr>
        <p:grpSp>
          <p:nvGrpSpPr>
            <p:cNvPr id="42" name="Group 41">
              <a:extLst>
                <a:ext uri="{FF2B5EF4-FFF2-40B4-BE49-F238E27FC236}">
                  <a16:creationId xmlns:a16="http://schemas.microsoft.com/office/drawing/2014/main" id="{3E5850DB-0FDB-FBD5-BC28-85D951F073E2}"/>
                </a:ext>
              </a:extLst>
            </p:cNvPr>
            <p:cNvGrpSpPr/>
            <p:nvPr/>
          </p:nvGrpSpPr>
          <p:grpSpPr>
            <a:xfrm>
              <a:off x="0" y="0"/>
              <a:ext cx="2385912" cy="885232"/>
              <a:chOff x="0" y="0"/>
              <a:chExt cx="2290662" cy="885232"/>
            </a:xfrm>
          </p:grpSpPr>
          <p:sp>
            <p:nvSpPr>
              <p:cNvPr id="44" name="Rectangle: Rounded Corners 43">
                <a:extLst>
                  <a:ext uri="{FF2B5EF4-FFF2-40B4-BE49-F238E27FC236}">
                    <a16:creationId xmlns:a16="http://schemas.microsoft.com/office/drawing/2014/main" id="{4DCF194B-60D0-4D17-A0DE-3FF4D8D92072}"/>
                  </a:ext>
                </a:extLst>
              </p:cNvPr>
              <p:cNvSpPr/>
              <p:nvPr/>
            </p:nvSpPr>
            <p:spPr>
              <a:xfrm>
                <a:off x="0" y="0"/>
                <a:ext cx="2290662" cy="885232"/>
              </a:xfrm>
              <a:prstGeom prst="roundRect">
                <a:avLst>
                  <a:gd name="adj" fmla="val 25958"/>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2000" b="1">
                  <a:solidFill>
                    <a:schemeClr val="tx2"/>
                  </a:solidFill>
                </a:endParaRPr>
              </a:p>
            </p:txBody>
          </p:sp>
          <p:sp>
            <p:nvSpPr>
              <p:cNvPr id="45" name="TextBox 13">
                <a:extLst>
                  <a:ext uri="{FF2B5EF4-FFF2-40B4-BE49-F238E27FC236}">
                    <a16:creationId xmlns:a16="http://schemas.microsoft.com/office/drawing/2014/main" id="{4A4A2074-B40B-417F-853B-C3C2AB4AC932}"/>
                  </a:ext>
                </a:extLst>
              </p:cNvPr>
              <p:cNvSpPr txBox="1"/>
              <p:nvPr/>
            </p:nvSpPr>
            <p:spPr>
              <a:xfrm>
                <a:off x="687483" y="169898"/>
                <a:ext cx="1420786" cy="20331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800" b="1">
                    <a:solidFill>
                      <a:schemeClr val="bg1"/>
                    </a:solidFill>
                  </a:rPr>
                  <a:t>Total Profit</a:t>
                </a:r>
              </a:p>
            </p:txBody>
          </p:sp>
          <p:sp>
            <p:nvSpPr>
              <p:cNvPr id="46" name="TextBox 14">
                <a:extLst>
                  <a:ext uri="{FF2B5EF4-FFF2-40B4-BE49-F238E27FC236}">
                    <a16:creationId xmlns:a16="http://schemas.microsoft.com/office/drawing/2014/main" id="{C2BBA40E-A190-4DE0-B477-5ABBE5CA3E22}"/>
                  </a:ext>
                </a:extLst>
              </p:cNvPr>
              <p:cNvSpPr txBox="1"/>
              <p:nvPr/>
            </p:nvSpPr>
            <p:spPr>
              <a:xfrm>
                <a:off x="648124" y="466066"/>
                <a:ext cx="1449809" cy="20331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fld id="{61C93E74-2F83-46D6-AEBF-90574046DDF6}" type="TxLink">
                  <a:rPr lang="en-US" sz="1800" b="1" i="0" u="none" strike="noStrike">
                    <a:solidFill>
                      <a:schemeClr val="bg1"/>
                    </a:solidFill>
                    <a:latin typeface="Aptos Narrow"/>
                    <a:ea typeface="+mn-ea"/>
                    <a:cs typeface="+mn-cs"/>
                  </a:rPr>
                  <a:pPr algn="ctr"/>
                  <a:t> 286,397 </a:t>
                </a:fld>
                <a:endParaRPr lang="en-US" sz="1800" b="1" i="0" u="none" strike="noStrike">
                  <a:solidFill>
                    <a:schemeClr val="bg1"/>
                  </a:solidFill>
                  <a:latin typeface="Aptos Narrow"/>
                  <a:ea typeface="+mn-ea"/>
                  <a:cs typeface="+mn-cs"/>
                </a:endParaRPr>
              </a:p>
            </p:txBody>
          </p:sp>
        </p:grpSp>
        <p:pic>
          <p:nvPicPr>
            <p:cNvPr id="43" name="Graphic 17" descr="Money with solid fill">
              <a:extLst>
                <a:ext uri="{FF2B5EF4-FFF2-40B4-BE49-F238E27FC236}">
                  <a16:creationId xmlns:a16="http://schemas.microsoft.com/office/drawing/2014/main" id="{B214AA2F-C989-482C-BBB3-CC6939149C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200" y="38100"/>
              <a:ext cx="731520" cy="731520"/>
            </a:xfrm>
            <a:prstGeom prst="rect">
              <a:avLst/>
            </a:prstGeom>
          </p:spPr>
        </p:pic>
      </p:grpSp>
      <p:grpSp>
        <p:nvGrpSpPr>
          <p:cNvPr id="47" name="Group 46">
            <a:extLst>
              <a:ext uri="{FF2B5EF4-FFF2-40B4-BE49-F238E27FC236}">
                <a16:creationId xmlns:a16="http://schemas.microsoft.com/office/drawing/2014/main" id="{C177D0CB-E949-7063-98EB-ED694BB738A8}"/>
              </a:ext>
            </a:extLst>
          </p:cNvPr>
          <p:cNvGrpSpPr/>
          <p:nvPr/>
        </p:nvGrpSpPr>
        <p:grpSpPr>
          <a:xfrm>
            <a:off x="6531200" y="1122762"/>
            <a:ext cx="2385912" cy="885232"/>
            <a:chOff x="0" y="0"/>
            <a:chExt cx="2385912" cy="885232"/>
          </a:xfrm>
        </p:grpSpPr>
        <p:grpSp>
          <p:nvGrpSpPr>
            <p:cNvPr id="48" name="Group 47">
              <a:extLst>
                <a:ext uri="{FF2B5EF4-FFF2-40B4-BE49-F238E27FC236}">
                  <a16:creationId xmlns:a16="http://schemas.microsoft.com/office/drawing/2014/main" id="{3E5850DB-0FDB-FBD5-BC28-85D951F073E2}"/>
                </a:ext>
              </a:extLst>
            </p:cNvPr>
            <p:cNvGrpSpPr/>
            <p:nvPr/>
          </p:nvGrpSpPr>
          <p:grpSpPr>
            <a:xfrm>
              <a:off x="0" y="0"/>
              <a:ext cx="2385912" cy="885232"/>
              <a:chOff x="0" y="0"/>
              <a:chExt cx="2290662" cy="885232"/>
            </a:xfrm>
          </p:grpSpPr>
          <p:sp>
            <p:nvSpPr>
              <p:cNvPr id="50" name="Rectangle: Rounded Corners 49">
                <a:extLst>
                  <a:ext uri="{FF2B5EF4-FFF2-40B4-BE49-F238E27FC236}">
                    <a16:creationId xmlns:a16="http://schemas.microsoft.com/office/drawing/2014/main" id="{4DCF194B-60D0-4D17-A0DE-3FF4D8D92072}"/>
                  </a:ext>
                </a:extLst>
              </p:cNvPr>
              <p:cNvSpPr/>
              <p:nvPr/>
            </p:nvSpPr>
            <p:spPr>
              <a:xfrm>
                <a:off x="0" y="0"/>
                <a:ext cx="2290662" cy="885232"/>
              </a:xfrm>
              <a:prstGeom prst="roundRect">
                <a:avLst>
                  <a:gd name="adj" fmla="val 25958"/>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2000" b="1">
                  <a:solidFill>
                    <a:schemeClr val="tx2"/>
                  </a:solidFill>
                </a:endParaRPr>
              </a:p>
            </p:txBody>
          </p:sp>
          <p:sp>
            <p:nvSpPr>
              <p:cNvPr id="51" name="TextBox 13">
                <a:extLst>
                  <a:ext uri="{FF2B5EF4-FFF2-40B4-BE49-F238E27FC236}">
                    <a16:creationId xmlns:a16="http://schemas.microsoft.com/office/drawing/2014/main" id="{4A4A2074-B40B-417F-853B-C3C2AB4AC932}"/>
                  </a:ext>
                </a:extLst>
              </p:cNvPr>
              <p:cNvSpPr txBox="1"/>
              <p:nvPr/>
            </p:nvSpPr>
            <p:spPr>
              <a:xfrm>
                <a:off x="687483" y="169898"/>
                <a:ext cx="1420786" cy="20331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800" b="1">
                    <a:solidFill>
                      <a:schemeClr val="bg1"/>
                    </a:solidFill>
                  </a:rPr>
                  <a:t>Total Orders</a:t>
                </a:r>
              </a:p>
            </p:txBody>
          </p:sp>
          <p:sp>
            <p:nvSpPr>
              <p:cNvPr id="52" name="TextBox 14">
                <a:extLst>
                  <a:ext uri="{FF2B5EF4-FFF2-40B4-BE49-F238E27FC236}">
                    <a16:creationId xmlns:a16="http://schemas.microsoft.com/office/drawing/2014/main" id="{C2BBA40E-A190-4DE0-B477-5ABBE5CA3E22}"/>
                  </a:ext>
                </a:extLst>
              </p:cNvPr>
              <p:cNvSpPr txBox="1"/>
              <p:nvPr/>
            </p:nvSpPr>
            <p:spPr>
              <a:xfrm>
                <a:off x="648124" y="466066"/>
                <a:ext cx="1449809" cy="20331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800" b="1" i="0" u="none" strike="noStrike">
                    <a:solidFill>
                      <a:schemeClr val="bg1"/>
                    </a:solidFill>
                    <a:latin typeface="+mn-lt"/>
                    <a:ea typeface="+mn-ea"/>
                    <a:cs typeface="+mn-cs"/>
                  </a:rPr>
                  <a:t>9,994</a:t>
                </a:r>
              </a:p>
            </p:txBody>
          </p:sp>
        </p:grpSp>
        <p:pic>
          <p:nvPicPr>
            <p:cNvPr id="49" name="Graphic 2" descr="Shopping cart with solid fill">
              <a:extLst>
                <a:ext uri="{FF2B5EF4-FFF2-40B4-BE49-F238E27FC236}">
                  <a16:creationId xmlns:a16="http://schemas.microsoft.com/office/drawing/2014/main" id="{83806626-FC08-D0D7-04E3-D9CCF220F02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4775" y="57150"/>
              <a:ext cx="731520" cy="731520"/>
            </a:xfrm>
            <a:prstGeom prst="rect">
              <a:avLst/>
            </a:prstGeom>
          </p:spPr>
        </p:pic>
      </p:grpSp>
      <p:grpSp>
        <p:nvGrpSpPr>
          <p:cNvPr id="53" name="Group 52">
            <a:extLst>
              <a:ext uri="{FF2B5EF4-FFF2-40B4-BE49-F238E27FC236}">
                <a16:creationId xmlns:a16="http://schemas.microsoft.com/office/drawing/2014/main" id="{93A4C244-F34C-66B9-5CC3-A4984D06FBBC}"/>
              </a:ext>
            </a:extLst>
          </p:cNvPr>
          <p:cNvGrpSpPr/>
          <p:nvPr/>
        </p:nvGrpSpPr>
        <p:grpSpPr>
          <a:xfrm>
            <a:off x="1800852" y="2325570"/>
            <a:ext cx="2385912" cy="885232"/>
            <a:chOff x="0" y="0"/>
            <a:chExt cx="2385912" cy="885232"/>
          </a:xfrm>
        </p:grpSpPr>
        <p:grpSp>
          <p:nvGrpSpPr>
            <p:cNvPr id="54" name="Group 53">
              <a:extLst>
                <a:ext uri="{FF2B5EF4-FFF2-40B4-BE49-F238E27FC236}">
                  <a16:creationId xmlns:a16="http://schemas.microsoft.com/office/drawing/2014/main" id="{3E5850DB-0FDB-FBD5-BC28-85D951F073E2}"/>
                </a:ext>
              </a:extLst>
            </p:cNvPr>
            <p:cNvGrpSpPr/>
            <p:nvPr/>
          </p:nvGrpSpPr>
          <p:grpSpPr>
            <a:xfrm>
              <a:off x="0" y="0"/>
              <a:ext cx="2385912" cy="885232"/>
              <a:chOff x="0" y="0"/>
              <a:chExt cx="2290662" cy="885232"/>
            </a:xfrm>
          </p:grpSpPr>
          <p:sp>
            <p:nvSpPr>
              <p:cNvPr id="56" name="Rectangle: Rounded Corners 55">
                <a:extLst>
                  <a:ext uri="{FF2B5EF4-FFF2-40B4-BE49-F238E27FC236}">
                    <a16:creationId xmlns:a16="http://schemas.microsoft.com/office/drawing/2014/main" id="{4DCF194B-60D0-4D17-A0DE-3FF4D8D92072}"/>
                  </a:ext>
                </a:extLst>
              </p:cNvPr>
              <p:cNvSpPr/>
              <p:nvPr/>
            </p:nvSpPr>
            <p:spPr>
              <a:xfrm>
                <a:off x="0" y="0"/>
                <a:ext cx="2290662" cy="885232"/>
              </a:xfrm>
              <a:prstGeom prst="roundRect">
                <a:avLst>
                  <a:gd name="adj" fmla="val 25958"/>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2000" b="1">
                  <a:solidFill>
                    <a:schemeClr val="tx2"/>
                  </a:solidFill>
                </a:endParaRPr>
              </a:p>
            </p:txBody>
          </p:sp>
          <p:sp>
            <p:nvSpPr>
              <p:cNvPr id="57" name="TextBox 13">
                <a:extLst>
                  <a:ext uri="{FF2B5EF4-FFF2-40B4-BE49-F238E27FC236}">
                    <a16:creationId xmlns:a16="http://schemas.microsoft.com/office/drawing/2014/main" id="{4A4A2074-B40B-417F-853B-C3C2AB4AC932}"/>
                  </a:ext>
                </a:extLst>
              </p:cNvPr>
              <p:cNvSpPr txBox="1"/>
              <p:nvPr/>
            </p:nvSpPr>
            <p:spPr>
              <a:xfrm>
                <a:off x="687483" y="169898"/>
                <a:ext cx="1420786" cy="20331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600" b="1">
                    <a:solidFill>
                      <a:schemeClr val="bg1"/>
                    </a:solidFill>
                  </a:rPr>
                  <a:t>Average Profit</a:t>
                </a:r>
              </a:p>
            </p:txBody>
          </p:sp>
          <p:sp>
            <p:nvSpPr>
              <p:cNvPr id="58" name="TextBox 14">
                <a:extLst>
                  <a:ext uri="{FF2B5EF4-FFF2-40B4-BE49-F238E27FC236}">
                    <a16:creationId xmlns:a16="http://schemas.microsoft.com/office/drawing/2014/main" id="{C2BBA40E-A190-4DE0-B477-5ABBE5CA3E22}"/>
                  </a:ext>
                </a:extLst>
              </p:cNvPr>
              <p:cNvSpPr txBox="1"/>
              <p:nvPr/>
            </p:nvSpPr>
            <p:spPr>
              <a:xfrm>
                <a:off x="648124" y="466066"/>
                <a:ext cx="1449809" cy="20331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800" b="1" i="0" u="none" strike="noStrike">
                    <a:solidFill>
                      <a:schemeClr val="bg1"/>
                    </a:solidFill>
                    <a:latin typeface="+mn-lt"/>
                    <a:ea typeface="+mn-ea"/>
                    <a:cs typeface="+mn-cs"/>
                  </a:rPr>
                  <a:t>29</a:t>
                </a:r>
              </a:p>
            </p:txBody>
          </p:sp>
        </p:grpSp>
        <p:pic>
          <p:nvPicPr>
            <p:cNvPr id="55" name="Graphic 6" descr="Scales of justice with solid fill">
              <a:extLst>
                <a:ext uri="{FF2B5EF4-FFF2-40B4-BE49-F238E27FC236}">
                  <a16:creationId xmlns:a16="http://schemas.microsoft.com/office/drawing/2014/main" id="{68EC5388-2532-23FA-B670-AA1ED928944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200" y="28575"/>
              <a:ext cx="731520" cy="731520"/>
            </a:xfrm>
            <a:prstGeom prst="rect">
              <a:avLst/>
            </a:prstGeom>
          </p:spPr>
        </p:pic>
      </p:grpSp>
      <p:grpSp>
        <p:nvGrpSpPr>
          <p:cNvPr id="59" name="Group 58">
            <a:extLst>
              <a:ext uri="{FF2B5EF4-FFF2-40B4-BE49-F238E27FC236}">
                <a16:creationId xmlns:a16="http://schemas.microsoft.com/office/drawing/2014/main" id="{667C4058-DDCE-7054-9D9B-7270086265C6}"/>
              </a:ext>
            </a:extLst>
          </p:cNvPr>
          <p:cNvGrpSpPr/>
          <p:nvPr/>
        </p:nvGrpSpPr>
        <p:grpSpPr>
          <a:xfrm>
            <a:off x="4957236" y="2333216"/>
            <a:ext cx="2385912" cy="885232"/>
            <a:chOff x="0" y="0"/>
            <a:chExt cx="2385912" cy="885232"/>
          </a:xfrm>
        </p:grpSpPr>
        <p:grpSp>
          <p:nvGrpSpPr>
            <p:cNvPr id="60" name="Group 59">
              <a:extLst>
                <a:ext uri="{FF2B5EF4-FFF2-40B4-BE49-F238E27FC236}">
                  <a16:creationId xmlns:a16="http://schemas.microsoft.com/office/drawing/2014/main" id="{3E5850DB-0FDB-FBD5-BC28-85D951F073E2}"/>
                </a:ext>
              </a:extLst>
            </p:cNvPr>
            <p:cNvGrpSpPr/>
            <p:nvPr/>
          </p:nvGrpSpPr>
          <p:grpSpPr>
            <a:xfrm>
              <a:off x="0" y="0"/>
              <a:ext cx="2385912" cy="885232"/>
              <a:chOff x="0" y="0"/>
              <a:chExt cx="2290662" cy="885232"/>
            </a:xfrm>
          </p:grpSpPr>
          <p:sp>
            <p:nvSpPr>
              <p:cNvPr id="62" name="Rectangle: Rounded Corners 61">
                <a:extLst>
                  <a:ext uri="{FF2B5EF4-FFF2-40B4-BE49-F238E27FC236}">
                    <a16:creationId xmlns:a16="http://schemas.microsoft.com/office/drawing/2014/main" id="{4DCF194B-60D0-4D17-A0DE-3FF4D8D92072}"/>
                  </a:ext>
                </a:extLst>
              </p:cNvPr>
              <p:cNvSpPr/>
              <p:nvPr/>
            </p:nvSpPr>
            <p:spPr>
              <a:xfrm>
                <a:off x="0" y="0"/>
                <a:ext cx="2290662" cy="885232"/>
              </a:xfrm>
              <a:prstGeom prst="roundRect">
                <a:avLst>
                  <a:gd name="adj" fmla="val 25958"/>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2000" b="1">
                  <a:solidFill>
                    <a:schemeClr val="tx2"/>
                  </a:solidFill>
                </a:endParaRPr>
              </a:p>
            </p:txBody>
          </p:sp>
          <p:sp>
            <p:nvSpPr>
              <p:cNvPr id="63" name="TextBox 13">
                <a:extLst>
                  <a:ext uri="{FF2B5EF4-FFF2-40B4-BE49-F238E27FC236}">
                    <a16:creationId xmlns:a16="http://schemas.microsoft.com/office/drawing/2014/main" id="{4A4A2074-B40B-417F-853B-C3C2AB4AC932}"/>
                  </a:ext>
                </a:extLst>
              </p:cNvPr>
              <p:cNvSpPr txBox="1"/>
              <p:nvPr/>
            </p:nvSpPr>
            <p:spPr>
              <a:xfrm>
                <a:off x="687483" y="169898"/>
                <a:ext cx="1420786" cy="20331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600" b="1">
                    <a:solidFill>
                      <a:schemeClr val="bg1"/>
                    </a:solidFill>
                  </a:rPr>
                  <a:t>Total Quantity</a:t>
                </a:r>
              </a:p>
            </p:txBody>
          </p:sp>
          <p:sp>
            <p:nvSpPr>
              <p:cNvPr id="64" name="TextBox 14">
                <a:extLst>
                  <a:ext uri="{FF2B5EF4-FFF2-40B4-BE49-F238E27FC236}">
                    <a16:creationId xmlns:a16="http://schemas.microsoft.com/office/drawing/2014/main" id="{C2BBA40E-A190-4DE0-B477-5ABBE5CA3E22}"/>
                  </a:ext>
                </a:extLst>
              </p:cNvPr>
              <p:cNvSpPr txBox="1"/>
              <p:nvPr/>
            </p:nvSpPr>
            <p:spPr>
              <a:xfrm>
                <a:off x="648124" y="466066"/>
                <a:ext cx="1449809" cy="20331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800" b="1" i="0" u="none" strike="noStrike">
                    <a:solidFill>
                      <a:schemeClr val="bg1"/>
                    </a:solidFill>
                    <a:latin typeface="+mn-lt"/>
                    <a:ea typeface="+mn-ea"/>
                    <a:cs typeface="+mn-cs"/>
                  </a:rPr>
                  <a:t>37,873</a:t>
                </a:r>
              </a:p>
            </p:txBody>
          </p:sp>
        </p:grpSp>
        <p:pic>
          <p:nvPicPr>
            <p:cNvPr id="61" name="Graphic 9" descr="Box with solid fill">
              <a:extLst>
                <a:ext uri="{FF2B5EF4-FFF2-40B4-BE49-F238E27FC236}">
                  <a16:creationId xmlns:a16="http://schemas.microsoft.com/office/drawing/2014/main" id="{C5179F32-2821-94C4-B0F0-99A032F1DEF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5725" y="57150"/>
              <a:ext cx="731520" cy="731520"/>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p:cNvGrpSpPr/>
        <p:nvPr/>
      </p:nvGrpSpPr>
      <p:grpSpPr>
        <a:xfrm>
          <a:off x="0" y="0"/>
          <a:ext cx="0" cy="0"/>
          <a:chOff x="0" y="0"/>
          <a:chExt cx="0" cy="0"/>
        </a:xfrm>
      </p:grpSpPr>
      <p:sp>
        <p:nvSpPr>
          <p:cNvPr id="2" name="TextBox 1"/>
          <p:cNvSpPr txBox="1"/>
          <p:nvPr/>
        </p:nvSpPr>
        <p:spPr>
          <a:xfrm>
            <a:off x="0" y="274320"/>
            <a:ext cx="9144000" cy="523220"/>
          </a:xfrm>
          <a:prstGeom prst="rect">
            <a:avLst/>
          </a:prstGeom>
          <a:noFill/>
        </p:spPr>
        <p:txBody>
          <a:bodyPr wrap="square">
            <a:spAutoFit/>
          </a:bodyPr>
          <a:lstStyle/>
          <a:p>
            <a:pPr algn="ctr">
              <a:defRPr sz="2800" b="1">
                <a:solidFill>
                  <a:srgbClr val="FFFFFF"/>
                </a:solidFill>
              </a:defRPr>
            </a:pPr>
            <a:r>
              <a:rPr lang="en-US" dirty="0"/>
              <a:t>Top 10 Selling Sub-Categories</a:t>
            </a:r>
            <a:endParaRPr dirty="0"/>
          </a:p>
        </p:txBody>
      </p:sp>
      <p:sp>
        <p:nvSpPr>
          <p:cNvPr id="6" name="TextBox 5">
            <a:extLst>
              <a:ext uri="{FF2B5EF4-FFF2-40B4-BE49-F238E27FC236}">
                <a16:creationId xmlns:a16="http://schemas.microsoft.com/office/drawing/2014/main" id="{1A4B40D3-17E1-1C87-0555-CC1462A6DE61}"/>
              </a:ext>
            </a:extLst>
          </p:cNvPr>
          <p:cNvSpPr txBox="1"/>
          <p:nvPr/>
        </p:nvSpPr>
        <p:spPr>
          <a:xfrm>
            <a:off x="1302369" y="3734834"/>
            <a:ext cx="6691661" cy="1384995"/>
          </a:xfrm>
          <a:prstGeom prst="rect">
            <a:avLst/>
          </a:prstGeom>
          <a:noFill/>
        </p:spPr>
        <p:txBody>
          <a:bodyPr wrap="square">
            <a:spAutoFit/>
          </a:bodyPr>
          <a:lstStyle/>
          <a:p>
            <a:pPr algn="ctr">
              <a:defRPr sz="2000">
                <a:solidFill>
                  <a:srgbClr val="D2D2D2"/>
                </a:solidFill>
              </a:defRPr>
            </a:pPr>
            <a:r>
              <a:rPr lang="en-US" sz="2000" b="1" dirty="0"/>
              <a:t>Sales Distribution by Sub-Category</a:t>
            </a:r>
            <a:br>
              <a:rPr lang="en-US" sz="2000" b="1" dirty="0"/>
            </a:br>
            <a:r>
              <a:rPr lang="en-US" sz="1600" b="1" dirty="0"/>
              <a:t>Sales are concentrated in a few key sub-categories, with Phones and Chairs leading performance. This indicates strong demand in specific product segments and highlights opportunities to focus on high-performing categories to drive revenue growth.</a:t>
            </a:r>
            <a:endParaRPr sz="1600" b="1" dirty="0"/>
          </a:p>
        </p:txBody>
      </p:sp>
      <p:sp>
        <p:nvSpPr>
          <p:cNvPr id="7" name="TextBox 6">
            <a:extLst>
              <a:ext uri="{FF2B5EF4-FFF2-40B4-BE49-F238E27FC236}">
                <a16:creationId xmlns:a16="http://schemas.microsoft.com/office/drawing/2014/main" id="{E8D70F26-C01E-E5CC-C80C-24B7887B0723}"/>
              </a:ext>
            </a:extLst>
          </p:cNvPr>
          <p:cNvSpPr txBox="1"/>
          <p:nvPr/>
        </p:nvSpPr>
        <p:spPr>
          <a:xfrm>
            <a:off x="1302369" y="5430120"/>
            <a:ext cx="6844061" cy="892552"/>
          </a:xfrm>
          <a:prstGeom prst="rect">
            <a:avLst/>
          </a:prstGeom>
          <a:noFill/>
        </p:spPr>
        <p:txBody>
          <a:bodyPr wrap="square">
            <a:spAutoFit/>
          </a:bodyPr>
          <a:lstStyle/>
          <a:p>
            <a:pPr algn="ctr" rtl="1">
              <a:defRPr sz="2000">
                <a:solidFill>
                  <a:srgbClr val="D2D2D2"/>
                </a:solidFill>
              </a:defRPr>
            </a:pPr>
            <a:r>
              <a:rPr lang="ar-EG" sz="2000" b="1" dirty="0"/>
              <a:t>توزيع المبيعات حسب الفئات الفرعية</a:t>
            </a:r>
            <a:br>
              <a:rPr lang="ar-EG" sz="2000" b="1" dirty="0"/>
            </a:br>
            <a:r>
              <a:rPr lang="ar-EG" sz="1600" b="1" dirty="0"/>
              <a:t>تتركز المبيعات في عدد محدود من الفئات الفرعية، حيث تتصدر الهواتف والكراسي الأداء. يشير ذلك إلى وجود طلب قوي على منتجات معينة، مما يبرز أهمية التركيز على هذه الفئات لزيادة الإيرادات.</a:t>
            </a:r>
            <a:endParaRPr sz="1600" b="1" dirty="0"/>
          </a:p>
        </p:txBody>
      </p:sp>
      <p:graphicFrame>
        <p:nvGraphicFramePr>
          <p:cNvPr id="4" name="Chart 3">
            <a:extLst>
              <a:ext uri="{FF2B5EF4-FFF2-40B4-BE49-F238E27FC236}">
                <a16:creationId xmlns:a16="http://schemas.microsoft.com/office/drawing/2014/main" id="{0F51194E-BAEF-E1D3-7269-889F4264C50E}"/>
              </a:ext>
            </a:extLst>
          </p:cNvPr>
          <p:cNvGraphicFramePr>
            <a:graphicFrameLocks/>
          </p:cNvGraphicFramePr>
          <p:nvPr>
            <p:extLst>
              <p:ext uri="{D42A27DB-BD31-4B8C-83A1-F6EECF244321}">
                <p14:modId xmlns:p14="http://schemas.microsoft.com/office/powerpoint/2010/main" val="3860639837"/>
              </p:ext>
            </p:extLst>
          </p:nvPr>
        </p:nvGraphicFramePr>
        <p:xfrm>
          <a:off x="1727200" y="861610"/>
          <a:ext cx="5746750" cy="27432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a:extLst>
            <a:ext uri="{FF2B5EF4-FFF2-40B4-BE49-F238E27FC236}">
              <a16:creationId xmlns:a16="http://schemas.microsoft.com/office/drawing/2014/main" id="{8E7E2054-EAE6-52D9-685F-6230C9F86CB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359958F-66A5-38D2-2B57-15A90CF30D21}"/>
              </a:ext>
            </a:extLst>
          </p:cNvPr>
          <p:cNvSpPr txBox="1"/>
          <p:nvPr/>
        </p:nvSpPr>
        <p:spPr>
          <a:xfrm>
            <a:off x="0" y="274320"/>
            <a:ext cx="9144000" cy="523220"/>
          </a:xfrm>
          <a:prstGeom prst="rect">
            <a:avLst/>
          </a:prstGeom>
          <a:noFill/>
        </p:spPr>
        <p:txBody>
          <a:bodyPr wrap="square">
            <a:spAutoFit/>
          </a:bodyPr>
          <a:lstStyle/>
          <a:p>
            <a:pPr algn="ctr">
              <a:defRPr sz="2800" b="1">
                <a:solidFill>
                  <a:srgbClr val="FFFFFF"/>
                </a:solidFill>
              </a:defRPr>
            </a:pPr>
            <a:r>
              <a:rPr lang="en-US" sz="2800" b="1" dirty="0"/>
              <a:t>Most Profitable Sub-Categories</a:t>
            </a:r>
            <a:endParaRPr dirty="0"/>
          </a:p>
        </p:txBody>
      </p:sp>
      <p:sp>
        <p:nvSpPr>
          <p:cNvPr id="6" name="TextBox 5">
            <a:extLst>
              <a:ext uri="{FF2B5EF4-FFF2-40B4-BE49-F238E27FC236}">
                <a16:creationId xmlns:a16="http://schemas.microsoft.com/office/drawing/2014/main" id="{2518F5B4-C12F-60A9-0138-18C1401514E3}"/>
              </a:ext>
            </a:extLst>
          </p:cNvPr>
          <p:cNvSpPr txBox="1"/>
          <p:nvPr/>
        </p:nvSpPr>
        <p:spPr>
          <a:xfrm>
            <a:off x="1302369" y="3734834"/>
            <a:ext cx="6691661" cy="1631216"/>
          </a:xfrm>
          <a:prstGeom prst="rect">
            <a:avLst/>
          </a:prstGeom>
          <a:noFill/>
        </p:spPr>
        <p:txBody>
          <a:bodyPr wrap="square">
            <a:spAutoFit/>
          </a:bodyPr>
          <a:lstStyle/>
          <a:p>
            <a:pPr algn="ctr">
              <a:defRPr sz="2000">
                <a:solidFill>
                  <a:srgbClr val="D2D2D2"/>
                </a:solidFill>
              </a:defRPr>
            </a:pPr>
            <a:r>
              <a:rPr lang="en-US" sz="2000" b="1" dirty="0"/>
              <a:t>Profit Contribution by Sub-Category</a:t>
            </a:r>
            <a:br>
              <a:rPr lang="en-US" sz="2000" b="1" dirty="0"/>
            </a:br>
            <a:r>
              <a:rPr lang="en-US" sz="2000" b="1" dirty="0"/>
              <a:t>Profit is concentrated in a few key sub-categories, with Copiers and Phones generating the highest returns. This highlights the importance of focusing on high-margin products to maximize overall profitability.</a:t>
            </a:r>
            <a:endParaRPr b="1" dirty="0"/>
          </a:p>
        </p:txBody>
      </p:sp>
      <p:sp>
        <p:nvSpPr>
          <p:cNvPr id="7" name="TextBox 6">
            <a:extLst>
              <a:ext uri="{FF2B5EF4-FFF2-40B4-BE49-F238E27FC236}">
                <a16:creationId xmlns:a16="http://schemas.microsoft.com/office/drawing/2014/main" id="{FA3E2838-46EA-B22E-5410-003E4F6A3E37}"/>
              </a:ext>
            </a:extLst>
          </p:cNvPr>
          <p:cNvSpPr txBox="1"/>
          <p:nvPr/>
        </p:nvSpPr>
        <p:spPr>
          <a:xfrm>
            <a:off x="1302369" y="5430120"/>
            <a:ext cx="6844061" cy="1323439"/>
          </a:xfrm>
          <a:prstGeom prst="rect">
            <a:avLst/>
          </a:prstGeom>
          <a:noFill/>
        </p:spPr>
        <p:txBody>
          <a:bodyPr wrap="square">
            <a:spAutoFit/>
          </a:bodyPr>
          <a:lstStyle/>
          <a:p>
            <a:pPr algn="ctr" rtl="1">
              <a:defRPr sz="2000">
                <a:solidFill>
                  <a:srgbClr val="D2D2D2"/>
                </a:solidFill>
              </a:defRPr>
            </a:pPr>
            <a:r>
              <a:rPr lang="ar-EG" sz="2000" b="1" dirty="0"/>
              <a:t>مساهمة كل فئة فرعية في الأرباح</a:t>
            </a:r>
            <a:br>
              <a:rPr lang="ar-EG" sz="2000" b="1" dirty="0"/>
            </a:br>
            <a:r>
              <a:rPr lang="ar-EG" sz="2000" b="1" dirty="0"/>
              <a:t>تتركز الأرباح في عدد محدود من الفئات، حيث تحقق أجهزة النسخ والهواتف أعلى عائد. ويؤكد ذلك أهمية التركيز على المنتجات ذات هامش الربح المرتفع لتعظيم الأرباح.</a:t>
            </a:r>
            <a:endParaRPr b="1" dirty="0"/>
          </a:p>
        </p:txBody>
      </p:sp>
      <p:graphicFrame>
        <p:nvGraphicFramePr>
          <p:cNvPr id="4" name="Chart 3">
            <a:extLst>
              <a:ext uri="{FF2B5EF4-FFF2-40B4-BE49-F238E27FC236}">
                <a16:creationId xmlns:a16="http://schemas.microsoft.com/office/drawing/2014/main" id="{4DD9041E-8927-70B1-B64F-4139986FEE58}"/>
              </a:ext>
            </a:extLst>
          </p:cNvPr>
          <p:cNvGraphicFramePr>
            <a:graphicFrameLocks/>
          </p:cNvGraphicFramePr>
          <p:nvPr>
            <p:extLst>
              <p:ext uri="{D42A27DB-BD31-4B8C-83A1-F6EECF244321}">
                <p14:modId xmlns:p14="http://schemas.microsoft.com/office/powerpoint/2010/main" val="3599266586"/>
              </p:ext>
            </p:extLst>
          </p:nvPr>
        </p:nvGraphicFramePr>
        <p:xfrm>
          <a:off x="2286000" y="894587"/>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12536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p:cNvGrpSpPr/>
        <p:nvPr/>
      </p:nvGrpSpPr>
      <p:grpSpPr>
        <a:xfrm>
          <a:off x="0" y="0"/>
          <a:ext cx="0" cy="0"/>
          <a:chOff x="0" y="0"/>
          <a:chExt cx="0" cy="0"/>
        </a:xfrm>
      </p:grpSpPr>
      <p:sp>
        <p:nvSpPr>
          <p:cNvPr id="2" name="TextBox 1"/>
          <p:cNvSpPr txBox="1"/>
          <p:nvPr/>
        </p:nvSpPr>
        <p:spPr>
          <a:xfrm>
            <a:off x="0" y="274320"/>
            <a:ext cx="9144000" cy="523220"/>
          </a:xfrm>
          <a:prstGeom prst="rect">
            <a:avLst/>
          </a:prstGeom>
          <a:noFill/>
        </p:spPr>
        <p:txBody>
          <a:bodyPr wrap="square">
            <a:spAutoFit/>
          </a:bodyPr>
          <a:lstStyle/>
          <a:p>
            <a:pPr algn="ctr">
              <a:defRPr sz="2800" b="1">
                <a:solidFill>
                  <a:srgbClr val="FFFFFF"/>
                </a:solidFill>
              </a:defRPr>
            </a:pPr>
            <a:r>
              <a:rPr lang="en-US" dirty="0"/>
              <a:t>Loss Distribution by Sub-Category</a:t>
            </a:r>
            <a:endParaRPr dirty="0"/>
          </a:p>
        </p:txBody>
      </p:sp>
      <p:sp>
        <p:nvSpPr>
          <p:cNvPr id="3" name="TextBox 2">
            <a:extLst>
              <a:ext uri="{FF2B5EF4-FFF2-40B4-BE49-F238E27FC236}">
                <a16:creationId xmlns:a16="http://schemas.microsoft.com/office/drawing/2014/main" id="{802F435A-9C3B-683A-B88D-EB93EF5385B6}"/>
              </a:ext>
            </a:extLst>
          </p:cNvPr>
          <p:cNvSpPr txBox="1"/>
          <p:nvPr/>
        </p:nvSpPr>
        <p:spPr>
          <a:xfrm>
            <a:off x="1149969" y="3899258"/>
            <a:ext cx="6844061" cy="1631216"/>
          </a:xfrm>
          <a:prstGeom prst="rect">
            <a:avLst/>
          </a:prstGeom>
          <a:noFill/>
        </p:spPr>
        <p:txBody>
          <a:bodyPr wrap="square">
            <a:spAutoFit/>
          </a:bodyPr>
          <a:lstStyle/>
          <a:p>
            <a:pPr algn="ctr">
              <a:defRPr sz="2000">
                <a:solidFill>
                  <a:srgbClr val="D2D2D2"/>
                </a:solidFill>
              </a:defRPr>
            </a:pPr>
            <a:r>
              <a:rPr lang="en-US" sz="2000" b="1" dirty="0"/>
              <a:t>Loss Contribution Analysis</a:t>
            </a:r>
            <a:br>
              <a:rPr lang="en-US" sz="2000" b="1" dirty="0"/>
            </a:br>
            <a:r>
              <a:rPr lang="en-US" sz="2000" b="1" dirty="0"/>
              <a:t>Losses are mainly driven by Tables, followed by Bookcases and Supplies. This indicates potential pricing or cost inefficiencies in these categories, requiring further review to improve profitability.</a:t>
            </a:r>
            <a:endParaRPr b="1" dirty="0"/>
          </a:p>
        </p:txBody>
      </p:sp>
      <p:sp>
        <p:nvSpPr>
          <p:cNvPr id="5" name="TextBox 4">
            <a:extLst>
              <a:ext uri="{FF2B5EF4-FFF2-40B4-BE49-F238E27FC236}">
                <a16:creationId xmlns:a16="http://schemas.microsoft.com/office/drawing/2014/main" id="{4C0B762D-6079-D732-9D2B-F689FD4A7D09}"/>
              </a:ext>
            </a:extLst>
          </p:cNvPr>
          <p:cNvSpPr txBox="1"/>
          <p:nvPr/>
        </p:nvSpPr>
        <p:spPr>
          <a:xfrm>
            <a:off x="1149969" y="5442114"/>
            <a:ext cx="6844061" cy="1323439"/>
          </a:xfrm>
          <a:prstGeom prst="rect">
            <a:avLst/>
          </a:prstGeom>
          <a:noFill/>
        </p:spPr>
        <p:txBody>
          <a:bodyPr wrap="square">
            <a:spAutoFit/>
          </a:bodyPr>
          <a:lstStyle/>
          <a:p>
            <a:pPr algn="ctr">
              <a:defRPr sz="2000">
                <a:solidFill>
                  <a:srgbClr val="D2D2D2"/>
                </a:solidFill>
              </a:defRPr>
            </a:pPr>
            <a:r>
              <a:rPr lang="ar-EG" sz="2000" b="1" dirty="0"/>
              <a:t>تحليل مساهمة الخسائر</a:t>
            </a:r>
            <a:br>
              <a:rPr lang="ar-EG" sz="2000" b="1" dirty="0"/>
            </a:br>
            <a:r>
              <a:rPr lang="ar-EG" sz="2000" b="1" dirty="0"/>
              <a:t>تتركز الخسائر بشكل أساسي في فئة الطاولات، تليها المكتبات والمستلزمات. ويشير ذلك إلى وجود مشكلات في التسعير أو التكاليف تتطلب مراجعة لتحسين الربحية.</a:t>
            </a:r>
            <a:endParaRPr b="1" dirty="0"/>
          </a:p>
        </p:txBody>
      </p:sp>
      <p:graphicFrame>
        <p:nvGraphicFramePr>
          <p:cNvPr id="10" name="Chart 9">
            <a:extLst>
              <a:ext uri="{FF2B5EF4-FFF2-40B4-BE49-F238E27FC236}">
                <a16:creationId xmlns:a16="http://schemas.microsoft.com/office/drawing/2014/main" id="{89BB0E59-29A3-AAFA-BC61-8AA9663733D7}"/>
              </a:ext>
            </a:extLst>
          </p:cNvPr>
          <p:cNvGraphicFramePr>
            <a:graphicFrameLocks/>
          </p:cNvGraphicFramePr>
          <p:nvPr>
            <p:extLst>
              <p:ext uri="{D42A27DB-BD31-4B8C-83A1-F6EECF244321}">
                <p14:modId xmlns:p14="http://schemas.microsoft.com/office/powerpoint/2010/main" val="235245703"/>
              </p:ext>
            </p:extLst>
          </p:nvPr>
        </p:nvGraphicFramePr>
        <p:xfrm>
          <a:off x="1981200" y="911241"/>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p:cNvGrpSpPr/>
        <p:nvPr/>
      </p:nvGrpSpPr>
      <p:grpSpPr>
        <a:xfrm>
          <a:off x="0" y="0"/>
          <a:ext cx="0" cy="0"/>
          <a:chOff x="0" y="0"/>
          <a:chExt cx="0" cy="0"/>
        </a:xfrm>
      </p:grpSpPr>
      <p:sp>
        <p:nvSpPr>
          <p:cNvPr id="2" name="TextBox 1"/>
          <p:cNvSpPr txBox="1"/>
          <p:nvPr/>
        </p:nvSpPr>
        <p:spPr>
          <a:xfrm>
            <a:off x="0" y="274320"/>
            <a:ext cx="9144000" cy="523220"/>
          </a:xfrm>
          <a:prstGeom prst="rect">
            <a:avLst/>
          </a:prstGeom>
          <a:noFill/>
        </p:spPr>
        <p:txBody>
          <a:bodyPr wrap="square">
            <a:spAutoFit/>
          </a:bodyPr>
          <a:lstStyle/>
          <a:p>
            <a:pPr algn="ctr">
              <a:defRPr sz="2800" b="1">
                <a:solidFill>
                  <a:srgbClr val="FFFFFF"/>
                </a:solidFill>
              </a:defRPr>
            </a:pPr>
            <a:r>
              <a:rPr lang="en-US" dirty="0"/>
              <a:t>Sales Distribution by Category</a:t>
            </a:r>
            <a:endParaRPr dirty="0"/>
          </a:p>
        </p:txBody>
      </p:sp>
      <p:sp>
        <p:nvSpPr>
          <p:cNvPr id="7" name="TextBox 6">
            <a:extLst>
              <a:ext uri="{FF2B5EF4-FFF2-40B4-BE49-F238E27FC236}">
                <a16:creationId xmlns:a16="http://schemas.microsoft.com/office/drawing/2014/main" id="{D2DC22C7-9C0C-B394-1266-B45510D8F97D}"/>
              </a:ext>
            </a:extLst>
          </p:cNvPr>
          <p:cNvSpPr txBox="1"/>
          <p:nvPr/>
        </p:nvSpPr>
        <p:spPr>
          <a:xfrm>
            <a:off x="1149968" y="5442114"/>
            <a:ext cx="6844061" cy="1015663"/>
          </a:xfrm>
          <a:prstGeom prst="rect">
            <a:avLst/>
          </a:prstGeom>
          <a:noFill/>
        </p:spPr>
        <p:txBody>
          <a:bodyPr wrap="square">
            <a:spAutoFit/>
          </a:bodyPr>
          <a:lstStyle/>
          <a:p>
            <a:pPr algn="ctr">
              <a:defRPr sz="2000">
                <a:solidFill>
                  <a:srgbClr val="D2D2D2"/>
                </a:solidFill>
              </a:defRPr>
            </a:pPr>
            <a:r>
              <a:rPr lang="ar-EG" sz="2000" b="1" dirty="0"/>
              <a:t>مساهمة كل فئة في المبيعات</a:t>
            </a:r>
            <a:br>
              <a:rPr lang="ar-EG" sz="2000" b="1" dirty="0"/>
            </a:br>
            <a:r>
              <a:rPr lang="ar-EG" sz="2000" b="1" dirty="0"/>
              <a:t>تتوزع المبيعات بشكل متوازن بين الفئات، مع تفوق بسيط لفئة التكنولوجيا. ويعكس ذلك تنوع مصادر الإيرادات وتقليل الاعتماد على فئة واحدة.</a:t>
            </a:r>
            <a:endParaRPr b="1" dirty="0"/>
          </a:p>
        </p:txBody>
      </p:sp>
      <p:sp>
        <p:nvSpPr>
          <p:cNvPr id="8" name="TextBox 7">
            <a:extLst>
              <a:ext uri="{FF2B5EF4-FFF2-40B4-BE49-F238E27FC236}">
                <a16:creationId xmlns:a16="http://schemas.microsoft.com/office/drawing/2014/main" id="{8611ADB8-5D22-D5F8-8F68-81B07703AE3E}"/>
              </a:ext>
            </a:extLst>
          </p:cNvPr>
          <p:cNvSpPr txBox="1"/>
          <p:nvPr/>
        </p:nvSpPr>
        <p:spPr>
          <a:xfrm>
            <a:off x="1149969" y="4014476"/>
            <a:ext cx="6844061" cy="1323439"/>
          </a:xfrm>
          <a:prstGeom prst="rect">
            <a:avLst/>
          </a:prstGeom>
          <a:noFill/>
        </p:spPr>
        <p:txBody>
          <a:bodyPr wrap="square">
            <a:spAutoFit/>
          </a:bodyPr>
          <a:lstStyle/>
          <a:p>
            <a:pPr algn="ctr">
              <a:defRPr sz="2000">
                <a:solidFill>
                  <a:srgbClr val="D2D2D2"/>
                </a:solidFill>
              </a:defRPr>
            </a:pPr>
            <a:r>
              <a:rPr lang="en-US" sz="2000" b="1" dirty="0"/>
              <a:t>Category Sales Contribution</a:t>
            </a:r>
            <a:br>
              <a:rPr lang="en-US" sz="2000" b="1" dirty="0"/>
            </a:br>
            <a:r>
              <a:rPr lang="en-US" sz="2000" b="1" dirty="0"/>
              <a:t>Sales are relatively balanced across categories, with Technology leading slightly. This indicates diversified revenue streams, reducing dependency on a single category.</a:t>
            </a:r>
            <a:endParaRPr b="1" dirty="0"/>
          </a:p>
        </p:txBody>
      </p:sp>
      <p:graphicFrame>
        <p:nvGraphicFramePr>
          <p:cNvPr id="3" name="Chart 2">
            <a:extLst>
              <a:ext uri="{FF2B5EF4-FFF2-40B4-BE49-F238E27FC236}">
                <a16:creationId xmlns:a16="http://schemas.microsoft.com/office/drawing/2014/main" id="{28826A47-F4FD-6086-F69A-D1C9A2AE62B0}"/>
              </a:ext>
            </a:extLst>
          </p:cNvPr>
          <p:cNvGraphicFramePr>
            <a:graphicFrameLocks/>
          </p:cNvGraphicFramePr>
          <p:nvPr>
            <p:extLst>
              <p:ext uri="{D42A27DB-BD31-4B8C-83A1-F6EECF244321}">
                <p14:modId xmlns:p14="http://schemas.microsoft.com/office/powerpoint/2010/main" val="3259574860"/>
              </p:ext>
            </p:extLst>
          </p:nvPr>
        </p:nvGraphicFramePr>
        <p:xfrm>
          <a:off x="2209800" y="1034408"/>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p:cNvGrpSpPr/>
        <p:nvPr/>
      </p:nvGrpSpPr>
      <p:grpSpPr>
        <a:xfrm>
          <a:off x="0" y="0"/>
          <a:ext cx="0" cy="0"/>
          <a:chOff x="0" y="0"/>
          <a:chExt cx="0" cy="0"/>
        </a:xfrm>
      </p:grpSpPr>
      <p:sp>
        <p:nvSpPr>
          <p:cNvPr id="2" name="TextBox 1"/>
          <p:cNvSpPr txBox="1"/>
          <p:nvPr/>
        </p:nvSpPr>
        <p:spPr>
          <a:xfrm>
            <a:off x="0" y="274320"/>
            <a:ext cx="9144000" cy="523220"/>
          </a:xfrm>
          <a:prstGeom prst="rect">
            <a:avLst/>
          </a:prstGeom>
          <a:noFill/>
        </p:spPr>
        <p:txBody>
          <a:bodyPr wrap="square">
            <a:spAutoFit/>
          </a:bodyPr>
          <a:lstStyle/>
          <a:p>
            <a:pPr algn="ctr">
              <a:defRPr sz="2800" b="1">
                <a:solidFill>
                  <a:srgbClr val="FFFFFF"/>
                </a:solidFill>
              </a:defRPr>
            </a:pPr>
            <a:r>
              <a:rPr lang="en-US" dirty="0"/>
              <a:t>Sales vs Profit by Region</a:t>
            </a:r>
            <a:endParaRPr dirty="0"/>
          </a:p>
        </p:txBody>
      </p:sp>
      <p:sp>
        <p:nvSpPr>
          <p:cNvPr id="4" name="TextBox 3">
            <a:extLst>
              <a:ext uri="{FF2B5EF4-FFF2-40B4-BE49-F238E27FC236}">
                <a16:creationId xmlns:a16="http://schemas.microsoft.com/office/drawing/2014/main" id="{CCB8A8EF-F87A-449C-981B-B47DD1BC5311}"/>
              </a:ext>
            </a:extLst>
          </p:cNvPr>
          <p:cNvSpPr txBox="1"/>
          <p:nvPr/>
        </p:nvSpPr>
        <p:spPr>
          <a:xfrm>
            <a:off x="1149969" y="3968949"/>
            <a:ext cx="6844061" cy="1138773"/>
          </a:xfrm>
          <a:prstGeom prst="rect">
            <a:avLst/>
          </a:prstGeom>
          <a:noFill/>
        </p:spPr>
        <p:txBody>
          <a:bodyPr wrap="square">
            <a:spAutoFit/>
          </a:bodyPr>
          <a:lstStyle/>
          <a:p>
            <a:pPr algn="ctr">
              <a:defRPr sz="2000">
                <a:solidFill>
                  <a:srgbClr val="D2D2D2"/>
                </a:solidFill>
              </a:defRPr>
            </a:pPr>
            <a:r>
              <a:rPr lang="en-US" sz="2000" b="1" dirty="0"/>
              <a:t>Regional Performance Comparison</a:t>
            </a:r>
            <a:br>
              <a:rPr lang="en-US" sz="2000" b="1" dirty="0"/>
            </a:br>
            <a:r>
              <a:rPr lang="en-US" sz="1600" b="1" dirty="0"/>
              <a:t>Sales and profit vary across regions, with the West and East leading performance. Some regions show high sales but relatively lower profit, indicating opportunities to improve cost efficiency and pricing strategies.</a:t>
            </a:r>
            <a:endParaRPr sz="1600" b="1" dirty="0"/>
          </a:p>
        </p:txBody>
      </p:sp>
      <p:sp>
        <p:nvSpPr>
          <p:cNvPr id="5" name="TextBox 4">
            <a:extLst>
              <a:ext uri="{FF2B5EF4-FFF2-40B4-BE49-F238E27FC236}">
                <a16:creationId xmlns:a16="http://schemas.microsoft.com/office/drawing/2014/main" id="{6993C264-75DE-489A-8A27-7074CF067CD8}"/>
              </a:ext>
            </a:extLst>
          </p:cNvPr>
          <p:cNvSpPr txBox="1"/>
          <p:nvPr/>
        </p:nvSpPr>
        <p:spPr>
          <a:xfrm>
            <a:off x="1149969" y="5337915"/>
            <a:ext cx="6844061" cy="1138773"/>
          </a:xfrm>
          <a:prstGeom prst="rect">
            <a:avLst/>
          </a:prstGeom>
          <a:noFill/>
        </p:spPr>
        <p:txBody>
          <a:bodyPr wrap="square">
            <a:spAutoFit/>
          </a:bodyPr>
          <a:lstStyle/>
          <a:p>
            <a:pPr algn="ctr">
              <a:defRPr sz="2000">
                <a:solidFill>
                  <a:srgbClr val="D2D2D2"/>
                </a:solidFill>
              </a:defRPr>
            </a:pPr>
            <a:r>
              <a:rPr lang="ar-EG" sz="2000" b="1" dirty="0"/>
              <a:t>مقارنة الأداء بين المناطق</a:t>
            </a:r>
            <a:br>
              <a:rPr lang="ar-EG" sz="2000" b="1" dirty="0"/>
            </a:br>
            <a:r>
              <a:rPr lang="ar-EG" sz="1600" b="1" dirty="0"/>
              <a:t>تختلف المبيعات والأرباح بين المناطق، حيث تتصدر منطقتا الغرب والشرق الأداء. وتظهر بعض المناطق مبيعات مرتفعة مع أرباح أقل نسبيًا، مما يشير إلى فرص لتحسين الكفاءة التشغيلية واستراتيجيات التسعير.</a:t>
            </a:r>
            <a:endParaRPr sz="1600" b="1" dirty="0"/>
          </a:p>
        </p:txBody>
      </p:sp>
      <p:graphicFrame>
        <p:nvGraphicFramePr>
          <p:cNvPr id="3" name="Chart 2">
            <a:extLst>
              <a:ext uri="{FF2B5EF4-FFF2-40B4-BE49-F238E27FC236}">
                <a16:creationId xmlns:a16="http://schemas.microsoft.com/office/drawing/2014/main" id="{8AA8B8A5-83C5-2CFC-B08F-3A9C160D99FC}"/>
              </a:ext>
            </a:extLst>
          </p:cNvPr>
          <p:cNvGraphicFramePr>
            <a:graphicFrameLocks/>
          </p:cNvGraphicFramePr>
          <p:nvPr>
            <p:extLst>
              <p:ext uri="{D42A27DB-BD31-4B8C-83A1-F6EECF244321}">
                <p14:modId xmlns:p14="http://schemas.microsoft.com/office/powerpoint/2010/main" val="2365603563"/>
              </p:ext>
            </p:extLst>
          </p:nvPr>
        </p:nvGraphicFramePr>
        <p:xfrm>
          <a:off x="2146300" y="1011644"/>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p:cNvGrpSpPr/>
        <p:nvPr/>
      </p:nvGrpSpPr>
      <p:grpSpPr>
        <a:xfrm>
          <a:off x="0" y="0"/>
          <a:ext cx="0" cy="0"/>
          <a:chOff x="0" y="0"/>
          <a:chExt cx="0" cy="0"/>
        </a:xfrm>
      </p:grpSpPr>
      <p:sp>
        <p:nvSpPr>
          <p:cNvPr id="2" name="TextBox 1"/>
          <p:cNvSpPr txBox="1"/>
          <p:nvPr/>
        </p:nvSpPr>
        <p:spPr>
          <a:xfrm>
            <a:off x="0" y="274320"/>
            <a:ext cx="9144000" cy="523220"/>
          </a:xfrm>
          <a:prstGeom prst="rect">
            <a:avLst/>
          </a:prstGeom>
          <a:noFill/>
        </p:spPr>
        <p:txBody>
          <a:bodyPr wrap="square">
            <a:spAutoFit/>
          </a:bodyPr>
          <a:lstStyle/>
          <a:p>
            <a:pPr algn="ctr">
              <a:defRPr sz="2800" b="1">
                <a:solidFill>
                  <a:srgbClr val="FFFFFF"/>
                </a:solidFill>
              </a:defRPr>
            </a:pPr>
            <a:r>
              <a:rPr dirty="0"/>
              <a:t>Key Problems Identified</a:t>
            </a:r>
          </a:p>
        </p:txBody>
      </p:sp>
      <p:sp>
        <p:nvSpPr>
          <p:cNvPr id="4" name="TextBox 3">
            <a:extLst>
              <a:ext uri="{FF2B5EF4-FFF2-40B4-BE49-F238E27FC236}">
                <a16:creationId xmlns:a16="http://schemas.microsoft.com/office/drawing/2014/main" id="{AEDFB8A2-8F6B-43A5-AE92-95DFEA3F1669}"/>
              </a:ext>
            </a:extLst>
          </p:cNvPr>
          <p:cNvSpPr txBox="1"/>
          <p:nvPr/>
        </p:nvSpPr>
        <p:spPr>
          <a:xfrm>
            <a:off x="1149968" y="1387247"/>
            <a:ext cx="6844061" cy="2616101"/>
          </a:xfrm>
          <a:prstGeom prst="rect">
            <a:avLst/>
          </a:prstGeom>
          <a:noFill/>
        </p:spPr>
        <p:txBody>
          <a:bodyPr wrap="square">
            <a:spAutoFit/>
          </a:bodyPr>
          <a:lstStyle/>
          <a:p>
            <a:pPr algn="ctr">
              <a:defRPr sz="2000">
                <a:solidFill>
                  <a:srgbClr val="D2D2D2"/>
                </a:solidFill>
              </a:defRPr>
            </a:pPr>
            <a:r>
              <a:rPr lang="en-US" sz="2400" b="1" i="0" u="sng" dirty="0">
                <a:effectLst/>
                <a:latin typeface="gg sans"/>
              </a:rPr>
              <a:t>Key Business Insights</a:t>
            </a:r>
            <a:endParaRPr lang="ar-EG" sz="2400" b="1" i="0" u="sng" dirty="0">
              <a:effectLst/>
              <a:latin typeface="gg sans"/>
            </a:endParaRPr>
          </a:p>
          <a:p>
            <a:pPr marL="342900" indent="-342900">
              <a:buFont typeface="Arial" panose="020B0604020202020204" pitchFamily="34" charset="0"/>
              <a:buChar char="•"/>
              <a:defRPr sz="2000">
                <a:solidFill>
                  <a:srgbClr val="D2D2D2"/>
                </a:solidFill>
              </a:defRPr>
            </a:pPr>
            <a:r>
              <a:rPr lang="en-US" b="1" i="0" dirty="0">
                <a:effectLst/>
                <a:latin typeface="gg sans"/>
              </a:rPr>
              <a:t>Sales are concentrated in a few sub-categories (e.g., Phones &amp; Chairs)</a:t>
            </a:r>
            <a:endParaRPr lang="ar-EG" b="1" i="0" dirty="0">
              <a:effectLst/>
              <a:latin typeface="gg sans"/>
            </a:endParaRPr>
          </a:p>
          <a:p>
            <a:pPr marL="342900" indent="-342900">
              <a:buFont typeface="Arial" panose="020B0604020202020204" pitchFamily="34" charset="0"/>
              <a:buChar char="•"/>
              <a:defRPr sz="2000">
                <a:solidFill>
                  <a:srgbClr val="D2D2D2"/>
                </a:solidFill>
              </a:defRPr>
            </a:pPr>
            <a:r>
              <a:rPr lang="en-US" b="1" i="0" dirty="0">
                <a:effectLst/>
                <a:latin typeface="gg sans"/>
              </a:rPr>
              <a:t>Some sub-categories generate consistent losses (e.g., Tables &amp; Bookcases)</a:t>
            </a:r>
            <a:endParaRPr lang="ar-EG" b="1" i="0" dirty="0">
              <a:effectLst/>
              <a:latin typeface="gg sans"/>
            </a:endParaRPr>
          </a:p>
          <a:p>
            <a:pPr marL="342900" indent="-342900">
              <a:buFont typeface="Arial" panose="020B0604020202020204" pitchFamily="34" charset="0"/>
              <a:buChar char="•"/>
              <a:defRPr sz="2000">
                <a:solidFill>
                  <a:srgbClr val="D2D2D2"/>
                </a:solidFill>
              </a:defRPr>
            </a:pPr>
            <a:r>
              <a:rPr lang="en-US" b="1" i="0" dirty="0">
                <a:effectLst/>
                <a:latin typeface="gg sans"/>
              </a:rPr>
              <a:t>Profit does not always align with high sales across regions</a:t>
            </a:r>
            <a:endParaRPr lang="ar-EG" b="1" i="0" dirty="0">
              <a:effectLst/>
              <a:latin typeface="gg sans"/>
            </a:endParaRPr>
          </a:p>
          <a:p>
            <a:pPr marL="342900" indent="-342900">
              <a:buFont typeface="Arial" panose="020B0604020202020204" pitchFamily="34" charset="0"/>
              <a:buChar char="•"/>
              <a:defRPr sz="2000">
                <a:solidFill>
                  <a:srgbClr val="D2D2D2"/>
                </a:solidFill>
              </a:defRPr>
            </a:pPr>
            <a:r>
              <a:rPr lang="en-US" b="1" i="0" dirty="0">
                <a:effectLst/>
                <a:latin typeface="gg sans"/>
              </a:rPr>
              <a:t>Low average profit indicates potential pricing or cost inefficiencies</a:t>
            </a:r>
            <a:endParaRPr b="1" dirty="0"/>
          </a:p>
        </p:txBody>
      </p:sp>
      <p:sp>
        <p:nvSpPr>
          <p:cNvPr id="5" name="TextBox 4">
            <a:extLst>
              <a:ext uri="{FF2B5EF4-FFF2-40B4-BE49-F238E27FC236}">
                <a16:creationId xmlns:a16="http://schemas.microsoft.com/office/drawing/2014/main" id="{E7ED1E74-FB01-492F-A05A-E71C1122BD56}"/>
              </a:ext>
            </a:extLst>
          </p:cNvPr>
          <p:cNvSpPr txBox="1"/>
          <p:nvPr/>
        </p:nvSpPr>
        <p:spPr>
          <a:xfrm>
            <a:off x="1149969" y="4325721"/>
            <a:ext cx="6844061" cy="1692771"/>
          </a:xfrm>
          <a:prstGeom prst="rect">
            <a:avLst/>
          </a:prstGeom>
          <a:noFill/>
        </p:spPr>
        <p:txBody>
          <a:bodyPr wrap="square">
            <a:spAutoFit/>
          </a:bodyPr>
          <a:lstStyle/>
          <a:p>
            <a:pPr algn="ctr" rtl="1">
              <a:defRPr sz="2000">
                <a:solidFill>
                  <a:srgbClr val="D2D2D2"/>
                </a:solidFill>
              </a:defRPr>
            </a:pPr>
            <a:r>
              <a:rPr lang="ar-EG" sz="2400" b="1" i="0" u="sng" dirty="0">
                <a:effectLst/>
                <a:latin typeface="gg sans"/>
              </a:rPr>
              <a:t>أهم الملاحظات</a:t>
            </a:r>
          </a:p>
          <a:p>
            <a:pPr marL="342900" indent="-342900" algn="r" rtl="1">
              <a:buFont typeface="Arial" panose="020B0604020202020204" pitchFamily="34" charset="0"/>
              <a:buChar char="•"/>
              <a:defRPr sz="2000">
                <a:solidFill>
                  <a:srgbClr val="D2D2D2"/>
                </a:solidFill>
              </a:defRPr>
            </a:pPr>
            <a:r>
              <a:rPr lang="ar-EG" b="1" i="0" dirty="0">
                <a:effectLst/>
                <a:latin typeface="gg sans"/>
              </a:rPr>
              <a:t>تتركز المبيعات في عدد محدود من الفئات (مثل الهواتف والكراسي)</a:t>
            </a:r>
          </a:p>
          <a:p>
            <a:pPr marL="342900" indent="-342900" algn="r" rtl="1">
              <a:buFont typeface="Arial" panose="020B0604020202020204" pitchFamily="34" charset="0"/>
              <a:buChar char="•"/>
              <a:defRPr sz="2000">
                <a:solidFill>
                  <a:srgbClr val="D2D2D2"/>
                </a:solidFill>
              </a:defRPr>
            </a:pPr>
            <a:r>
              <a:rPr lang="ar-EG" b="1" i="0" dirty="0">
                <a:effectLst/>
                <a:latin typeface="gg sans"/>
              </a:rPr>
              <a:t>بعض الفئات تحقق خسائر مستمرة (مثل الطاولات والمكتبات)</a:t>
            </a:r>
          </a:p>
          <a:p>
            <a:pPr marL="342900" indent="-342900" algn="r" rtl="1">
              <a:buFont typeface="Arial" panose="020B0604020202020204" pitchFamily="34" charset="0"/>
              <a:buChar char="•"/>
              <a:defRPr sz="2000">
                <a:solidFill>
                  <a:srgbClr val="D2D2D2"/>
                </a:solidFill>
              </a:defRPr>
            </a:pPr>
            <a:r>
              <a:rPr lang="ar-EG" b="1" i="0" dirty="0">
                <a:effectLst/>
                <a:latin typeface="gg sans"/>
              </a:rPr>
              <a:t>لا تتناسب الأرباح دائمًا مع حجم المبيعات في جميع المناطق</a:t>
            </a:r>
          </a:p>
          <a:p>
            <a:pPr marL="342900" indent="-342900" algn="r" rtl="1">
              <a:buFont typeface="Arial" panose="020B0604020202020204" pitchFamily="34" charset="0"/>
              <a:buChar char="•"/>
              <a:defRPr sz="2000">
                <a:solidFill>
                  <a:srgbClr val="D2D2D2"/>
                </a:solidFill>
              </a:defRPr>
            </a:pPr>
            <a:r>
              <a:rPr lang="ar-EG" b="1" i="0" dirty="0">
                <a:effectLst/>
                <a:latin typeface="gg sans"/>
              </a:rPr>
              <a:t>انخفاض متوسط الربح يشير إلى وجود مشكلات في التسعير أو التكاليف</a:t>
            </a:r>
            <a:endParaRPr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p:cNvGrpSpPr/>
        <p:nvPr/>
      </p:nvGrpSpPr>
      <p:grpSpPr>
        <a:xfrm>
          <a:off x="0" y="0"/>
          <a:ext cx="0" cy="0"/>
          <a:chOff x="0" y="0"/>
          <a:chExt cx="0" cy="0"/>
        </a:xfrm>
      </p:grpSpPr>
      <p:sp>
        <p:nvSpPr>
          <p:cNvPr id="2" name="TextBox 1"/>
          <p:cNvSpPr txBox="1"/>
          <p:nvPr/>
        </p:nvSpPr>
        <p:spPr>
          <a:xfrm>
            <a:off x="0" y="274320"/>
            <a:ext cx="9144000" cy="523220"/>
          </a:xfrm>
          <a:prstGeom prst="rect">
            <a:avLst/>
          </a:prstGeom>
          <a:noFill/>
        </p:spPr>
        <p:txBody>
          <a:bodyPr wrap="square">
            <a:spAutoFit/>
          </a:bodyPr>
          <a:lstStyle/>
          <a:p>
            <a:pPr algn="ctr">
              <a:defRPr sz="2800" b="1">
                <a:solidFill>
                  <a:srgbClr val="FFFFFF"/>
                </a:solidFill>
              </a:defRPr>
            </a:pPr>
            <a:r>
              <a:rPr dirty="0"/>
              <a:t>Strategic Recommendations</a:t>
            </a:r>
          </a:p>
        </p:txBody>
      </p:sp>
      <p:sp>
        <p:nvSpPr>
          <p:cNvPr id="4" name="TextBox 3">
            <a:extLst>
              <a:ext uri="{FF2B5EF4-FFF2-40B4-BE49-F238E27FC236}">
                <a16:creationId xmlns:a16="http://schemas.microsoft.com/office/drawing/2014/main" id="{F25F35B0-A9A4-4C99-815D-E3797C0EEBE3}"/>
              </a:ext>
            </a:extLst>
          </p:cNvPr>
          <p:cNvSpPr txBox="1"/>
          <p:nvPr/>
        </p:nvSpPr>
        <p:spPr>
          <a:xfrm>
            <a:off x="1149969" y="1424110"/>
            <a:ext cx="6844061" cy="1692771"/>
          </a:xfrm>
          <a:prstGeom prst="rect">
            <a:avLst/>
          </a:prstGeom>
          <a:noFill/>
        </p:spPr>
        <p:txBody>
          <a:bodyPr wrap="square">
            <a:spAutoFit/>
          </a:bodyPr>
          <a:lstStyle/>
          <a:p>
            <a:pPr algn="ctr">
              <a:defRPr sz="2000">
                <a:solidFill>
                  <a:srgbClr val="D2D2D2"/>
                </a:solidFill>
              </a:defRPr>
            </a:pPr>
            <a:r>
              <a:rPr lang="en-US" sz="2400" b="1" i="0" u="sng" dirty="0">
                <a:effectLst/>
                <a:latin typeface="gg sans"/>
              </a:rPr>
              <a:t>Strategic Recommendations </a:t>
            </a:r>
            <a:endParaRPr lang="ar-EG" sz="2400" b="1" i="0" u="sng" dirty="0">
              <a:effectLst/>
              <a:latin typeface="gg sans"/>
            </a:endParaRPr>
          </a:p>
          <a:p>
            <a:pPr marL="342900" indent="-342900">
              <a:buFont typeface="Arial" panose="020B0604020202020204" pitchFamily="34" charset="0"/>
              <a:buChar char="•"/>
              <a:defRPr sz="2000">
                <a:solidFill>
                  <a:srgbClr val="D2D2D2"/>
                </a:solidFill>
              </a:defRPr>
            </a:pPr>
            <a:r>
              <a:rPr lang="en-US" b="1" i="0" dirty="0">
                <a:effectLst/>
                <a:latin typeface="gg sans"/>
              </a:rPr>
              <a:t>Increase focus on high-performing sub-categories</a:t>
            </a:r>
            <a:endParaRPr lang="ar-EG" b="1" i="0" dirty="0">
              <a:effectLst/>
              <a:latin typeface="gg sans"/>
            </a:endParaRPr>
          </a:p>
          <a:p>
            <a:pPr marL="342900" indent="-342900">
              <a:buFont typeface="Arial" panose="020B0604020202020204" pitchFamily="34" charset="0"/>
              <a:buChar char="•"/>
              <a:defRPr sz="2000">
                <a:solidFill>
                  <a:srgbClr val="D2D2D2"/>
                </a:solidFill>
              </a:defRPr>
            </a:pPr>
            <a:r>
              <a:rPr lang="en-US" b="1" i="0" dirty="0">
                <a:effectLst/>
                <a:latin typeface="gg sans"/>
              </a:rPr>
              <a:t>Reduce losses by optimizing pricing and costs</a:t>
            </a:r>
            <a:endParaRPr lang="ar-EG" b="1" i="0" dirty="0">
              <a:effectLst/>
              <a:latin typeface="gg sans"/>
            </a:endParaRPr>
          </a:p>
          <a:p>
            <a:pPr marL="342900" indent="-342900">
              <a:buFont typeface="Arial" panose="020B0604020202020204" pitchFamily="34" charset="0"/>
              <a:buChar char="•"/>
              <a:defRPr sz="2000">
                <a:solidFill>
                  <a:srgbClr val="D2D2D2"/>
                </a:solidFill>
              </a:defRPr>
            </a:pPr>
            <a:r>
              <a:rPr lang="en-US" b="1" i="0" dirty="0">
                <a:effectLst/>
                <a:latin typeface="gg sans"/>
              </a:rPr>
              <a:t>Align discount strategies with profitability goals</a:t>
            </a:r>
            <a:endParaRPr lang="ar-EG" b="1" i="0" dirty="0">
              <a:effectLst/>
              <a:latin typeface="gg sans"/>
            </a:endParaRPr>
          </a:p>
          <a:p>
            <a:pPr marL="342900" indent="-342900">
              <a:buFont typeface="Arial" panose="020B0604020202020204" pitchFamily="34" charset="0"/>
              <a:buChar char="•"/>
              <a:defRPr sz="2000">
                <a:solidFill>
                  <a:srgbClr val="D2D2D2"/>
                </a:solidFill>
              </a:defRPr>
            </a:pPr>
            <a:r>
              <a:rPr lang="en-US" b="1" i="0" dirty="0">
                <a:effectLst/>
                <a:latin typeface="gg sans"/>
              </a:rPr>
              <a:t>Enhance regional strategies to maximize profit</a:t>
            </a:r>
            <a:endParaRPr b="1" dirty="0"/>
          </a:p>
        </p:txBody>
      </p:sp>
      <p:sp>
        <p:nvSpPr>
          <p:cNvPr id="5" name="TextBox 4">
            <a:extLst>
              <a:ext uri="{FF2B5EF4-FFF2-40B4-BE49-F238E27FC236}">
                <a16:creationId xmlns:a16="http://schemas.microsoft.com/office/drawing/2014/main" id="{955B40C3-C6F0-4C16-BDE6-6375962546F9}"/>
              </a:ext>
            </a:extLst>
          </p:cNvPr>
          <p:cNvSpPr txBox="1"/>
          <p:nvPr/>
        </p:nvSpPr>
        <p:spPr>
          <a:xfrm>
            <a:off x="1149969" y="3741120"/>
            <a:ext cx="6844061" cy="1692771"/>
          </a:xfrm>
          <a:prstGeom prst="rect">
            <a:avLst/>
          </a:prstGeom>
          <a:noFill/>
        </p:spPr>
        <p:txBody>
          <a:bodyPr wrap="square">
            <a:spAutoFit/>
          </a:bodyPr>
          <a:lstStyle/>
          <a:p>
            <a:pPr algn="ctr" rtl="1">
              <a:defRPr sz="2000">
                <a:solidFill>
                  <a:srgbClr val="D2D2D2"/>
                </a:solidFill>
              </a:defRPr>
            </a:pPr>
            <a:r>
              <a:rPr lang="ar-EG" sz="2400" b="1" i="0" u="sng" dirty="0">
                <a:effectLst/>
                <a:latin typeface="gg sans"/>
              </a:rPr>
              <a:t>التوصيات الاستراتيجية</a:t>
            </a:r>
          </a:p>
          <a:p>
            <a:pPr marL="342900" indent="-342900" algn="r" rtl="1">
              <a:buFont typeface="Arial" panose="020B0604020202020204" pitchFamily="34" charset="0"/>
              <a:buChar char="•"/>
              <a:defRPr sz="2000">
                <a:solidFill>
                  <a:srgbClr val="D2D2D2"/>
                </a:solidFill>
              </a:defRPr>
            </a:pPr>
            <a:r>
              <a:rPr lang="ar-EG" b="1" i="0" dirty="0">
                <a:effectLst/>
                <a:latin typeface="gg sans"/>
              </a:rPr>
              <a:t>التركيز على الفئات الأعلى أداءً</a:t>
            </a:r>
          </a:p>
          <a:p>
            <a:pPr marL="342900" indent="-342900" algn="r" rtl="1">
              <a:buFont typeface="Arial" panose="020B0604020202020204" pitchFamily="34" charset="0"/>
              <a:buChar char="•"/>
              <a:defRPr sz="2000">
                <a:solidFill>
                  <a:srgbClr val="D2D2D2"/>
                </a:solidFill>
              </a:defRPr>
            </a:pPr>
            <a:r>
              <a:rPr lang="ar-EG" b="1" i="0" dirty="0">
                <a:effectLst/>
                <a:latin typeface="gg sans"/>
              </a:rPr>
              <a:t>تقليل الخسائر من خلال تحسين التسعير والتكاليف </a:t>
            </a:r>
          </a:p>
          <a:p>
            <a:pPr marL="342900" indent="-342900" algn="r" rtl="1">
              <a:buFont typeface="Arial" panose="020B0604020202020204" pitchFamily="34" charset="0"/>
              <a:buChar char="•"/>
              <a:defRPr sz="2000">
                <a:solidFill>
                  <a:srgbClr val="D2D2D2"/>
                </a:solidFill>
              </a:defRPr>
            </a:pPr>
            <a:r>
              <a:rPr lang="ar-EG" b="1" i="0" dirty="0">
                <a:effectLst/>
                <a:latin typeface="gg sans"/>
              </a:rPr>
              <a:t>ربط الخصومات بأهداف الربحية</a:t>
            </a:r>
          </a:p>
          <a:p>
            <a:pPr marL="342900" indent="-342900" algn="r" rtl="1">
              <a:buFont typeface="Arial" panose="020B0604020202020204" pitchFamily="34" charset="0"/>
              <a:buChar char="•"/>
              <a:defRPr sz="2000">
                <a:solidFill>
                  <a:srgbClr val="D2D2D2"/>
                </a:solidFill>
              </a:defRPr>
            </a:pPr>
            <a:r>
              <a:rPr lang="ar-EG" b="1" i="0" dirty="0">
                <a:effectLst/>
                <a:latin typeface="gg sans"/>
              </a:rPr>
              <a:t>تحسين استراتيجيات المناطق لزيادة الأرباح</a:t>
            </a:r>
            <a:endParaRPr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p:cNvGrpSpPr/>
        <p:nvPr/>
      </p:nvGrpSpPr>
      <p:grpSpPr>
        <a:xfrm>
          <a:off x="0" y="0"/>
          <a:ext cx="0" cy="0"/>
          <a:chOff x="0" y="0"/>
          <a:chExt cx="0" cy="0"/>
        </a:xfrm>
      </p:grpSpPr>
      <p:sp>
        <p:nvSpPr>
          <p:cNvPr id="2" name="TextBox 1"/>
          <p:cNvSpPr txBox="1"/>
          <p:nvPr/>
        </p:nvSpPr>
        <p:spPr>
          <a:xfrm>
            <a:off x="0" y="274320"/>
            <a:ext cx="9144000" cy="523220"/>
          </a:xfrm>
          <a:prstGeom prst="rect">
            <a:avLst/>
          </a:prstGeom>
          <a:noFill/>
        </p:spPr>
        <p:txBody>
          <a:bodyPr wrap="square">
            <a:spAutoFit/>
          </a:bodyPr>
          <a:lstStyle/>
          <a:p>
            <a:pPr algn="ctr">
              <a:defRPr sz="2800" b="1">
                <a:solidFill>
                  <a:srgbClr val="FFFFFF"/>
                </a:solidFill>
              </a:defRPr>
            </a:pPr>
            <a:r>
              <a:rPr dirty="0"/>
              <a:t>Next Steps</a:t>
            </a:r>
          </a:p>
        </p:txBody>
      </p:sp>
      <p:sp>
        <p:nvSpPr>
          <p:cNvPr id="8" name="TextBox 7">
            <a:extLst>
              <a:ext uri="{FF2B5EF4-FFF2-40B4-BE49-F238E27FC236}">
                <a16:creationId xmlns:a16="http://schemas.microsoft.com/office/drawing/2014/main" id="{79598BE3-CB80-436B-AAC6-6B6665862C76}"/>
              </a:ext>
            </a:extLst>
          </p:cNvPr>
          <p:cNvSpPr txBox="1"/>
          <p:nvPr/>
        </p:nvSpPr>
        <p:spPr>
          <a:xfrm>
            <a:off x="1149969" y="1361699"/>
            <a:ext cx="6844061" cy="1384995"/>
          </a:xfrm>
          <a:prstGeom prst="rect">
            <a:avLst/>
          </a:prstGeom>
          <a:noFill/>
        </p:spPr>
        <p:txBody>
          <a:bodyPr wrap="square">
            <a:spAutoFit/>
          </a:bodyPr>
          <a:lstStyle/>
          <a:p>
            <a:pPr algn="ctr">
              <a:defRPr sz="2000">
                <a:solidFill>
                  <a:srgbClr val="D2D2D2"/>
                </a:solidFill>
              </a:defRPr>
            </a:pPr>
            <a:r>
              <a:rPr lang="en-US" sz="2400" b="1" i="0" u="sng" dirty="0">
                <a:effectLst/>
                <a:latin typeface="gg sans"/>
              </a:rPr>
              <a:t>Next Steps</a:t>
            </a:r>
            <a:endParaRPr lang="ar-EG" sz="2400" b="1" u="sng" dirty="0">
              <a:latin typeface="gg sans"/>
            </a:endParaRPr>
          </a:p>
          <a:p>
            <a:pPr marL="342900" indent="-342900">
              <a:buFont typeface="Arial" panose="020B0604020202020204" pitchFamily="34" charset="0"/>
              <a:buChar char="•"/>
              <a:defRPr sz="2000">
                <a:solidFill>
                  <a:srgbClr val="D2D2D2"/>
                </a:solidFill>
              </a:defRPr>
            </a:pPr>
            <a:r>
              <a:rPr lang="en-US" b="1" i="0" dirty="0">
                <a:effectLst/>
                <a:latin typeface="gg sans"/>
              </a:rPr>
              <a:t>Focus on improving loss-making sub-categories</a:t>
            </a:r>
            <a:endParaRPr lang="ar-EG" b="1" i="0" dirty="0">
              <a:effectLst/>
              <a:latin typeface="gg sans"/>
            </a:endParaRPr>
          </a:p>
          <a:p>
            <a:pPr marL="342900" indent="-342900">
              <a:buFont typeface="Arial" panose="020B0604020202020204" pitchFamily="34" charset="0"/>
              <a:buChar char="•"/>
              <a:defRPr sz="2000">
                <a:solidFill>
                  <a:srgbClr val="D2D2D2"/>
                </a:solidFill>
              </a:defRPr>
            </a:pPr>
            <a:r>
              <a:rPr lang="en-US" b="1" i="0" dirty="0">
                <a:effectLst/>
                <a:latin typeface="gg sans"/>
              </a:rPr>
              <a:t>Apply insights to support better business decisions</a:t>
            </a:r>
            <a:endParaRPr lang="ar-EG" b="1" i="0" dirty="0">
              <a:effectLst/>
              <a:latin typeface="gg sans"/>
            </a:endParaRPr>
          </a:p>
          <a:p>
            <a:pPr marL="342900" indent="-342900">
              <a:buFont typeface="Arial" panose="020B0604020202020204" pitchFamily="34" charset="0"/>
              <a:buChar char="•"/>
              <a:defRPr sz="2000">
                <a:solidFill>
                  <a:srgbClr val="D2D2D2"/>
                </a:solidFill>
              </a:defRPr>
            </a:pPr>
            <a:r>
              <a:rPr lang="en-US" b="1" i="0" dirty="0">
                <a:effectLst/>
                <a:latin typeface="gg sans"/>
              </a:rPr>
              <a:t>Continuously monitor performance using updated data</a:t>
            </a:r>
            <a:endParaRPr b="1" dirty="0"/>
          </a:p>
        </p:txBody>
      </p:sp>
      <p:sp>
        <p:nvSpPr>
          <p:cNvPr id="9" name="TextBox 8">
            <a:extLst>
              <a:ext uri="{FF2B5EF4-FFF2-40B4-BE49-F238E27FC236}">
                <a16:creationId xmlns:a16="http://schemas.microsoft.com/office/drawing/2014/main" id="{1C6EFE25-9DBB-4B3F-A359-F4C0316A44C0}"/>
              </a:ext>
            </a:extLst>
          </p:cNvPr>
          <p:cNvSpPr txBox="1"/>
          <p:nvPr/>
        </p:nvSpPr>
        <p:spPr>
          <a:xfrm>
            <a:off x="1149969" y="3593079"/>
            <a:ext cx="6844061" cy="1384995"/>
          </a:xfrm>
          <a:prstGeom prst="rect">
            <a:avLst/>
          </a:prstGeom>
          <a:noFill/>
        </p:spPr>
        <p:txBody>
          <a:bodyPr wrap="square">
            <a:spAutoFit/>
          </a:bodyPr>
          <a:lstStyle/>
          <a:p>
            <a:pPr algn="ctr" rtl="1">
              <a:defRPr sz="2000">
                <a:solidFill>
                  <a:srgbClr val="D2D2D2"/>
                </a:solidFill>
              </a:defRPr>
            </a:pPr>
            <a:r>
              <a:rPr lang="ar-EG" sz="2400" b="1" i="0" u="sng" dirty="0">
                <a:effectLst/>
                <a:latin typeface="gg sans"/>
              </a:rPr>
              <a:t>الخطوات القادمة</a:t>
            </a:r>
            <a:endParaRPr lang="ar-EG" sz="2400" b="1" u="sng" dirty="0">
              <a:latin typeface="gg sans"/>
            </a:endParaRPr>
          </a:p>
          <a:p>
            <a:pPr marL="342900" indent="-342900" algn="r" rtl="1">
              <a:buFont typeface="Arial" panose="020B0604020202020204" pitchFamily="34" charset="0"/>
              <a:buChar char="•"/>
              <a:defRPr sz="2000">
                <a:solidFill>
                  <a:srgbClr val="D2D2D2"/>
                </a:solidFill>
              </a:defRPr>
            </a:pPr>
            <a:r>
              <a:rPr lang="ar-EG" b="1" i="0" dirty="0">
                <a:effectLst/>
                <a:latin typeface="gg sans"/>
              </a:rPr>
              <a:t>التركيز على تحسين أداء الفئات الخاسرة</a:t>
            </a:r>
          </a:p>
          <a:p>
            <a:pPr marL="342900" indent="-342900" algn="r" rtl="1">
              <a:buFont typeface="Arial" panose="020B0604020202020204" pitchFamily="34" charset="0"/>
              <a:buChar char="•"/>
              <a:defRPr sz="2000">
                <a:solidFill>
                  <a:srgbClr val="D2D2D2"/>
                </a:solidFill>
              </a:defRPr>
            </a:pPr>
            <a:r>
              <a:rPr lang="ar-EG" b="1" i="0" dirty="0">
                <a:effectLst/>
                <a:latin typeface="gg sans"/>
              </a:rPr>
              <a:t>استخدام النتائج لدعم اتخاذ قرارات أفضل</a:t>
            </a:r>
          </a:p>
          <a:p>
            <a:pPr marL="342900" indent="-342900" algn="r" rtl="1">
              <a:buFont typeface="Arial" panose="020B0604020202020204" pitchFamily="34" charset="0"/>
              <a:buChar char="•"/>
              <a:defRPr sz="2000">
                <a:solidFill>
                  <a:srgbClr val="D2D2D2"/>
                </a:solidFill>
              </a:defRPr>
            </a:pPr>
            <a:r>
              <a:rPr lang="ar-EG" b="1" i="0" dirty="0">
                <a:effectLst/>
                <a:latin typeface="gg sans"/>
              </a:rPr>
              <a:t>متابعة الأداء بشكل مستمر باستخدام بيانات محدثة</a:t>
            </a:r>
            <a:endParaRPr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148</TotalTime>
  <Words>739</Words>
  <Application>Microsoft Office PowerPoint</Application>
  <PresentationFormat>On-screen Show (4:3)</PresentationFormat>
  <Paragraphs>62</Paragraphs>
  <Slides>10</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 Narrow</vt:lpstr>
      <vt:lpstr>Arial</vt:lpstr>
      <vt:lpstr>Calibri</vt:lpstr>
      <vt:lpstr>gg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abdulrahmansalem</cp:lastModifiedBy>
  <cp:revision>8</cp:revision>
  <dcterms:created xsi:type="dcterms:W3CDTF">2013-01-27T09:14:16Z</dcterms:created>
  <dcterms:modified xsi:type="dcterms:W3CDTF">2026-04-16T19:56:45Z</dcterms:modified>
  <cp:category/>
</cp:coreProperties>
</file>